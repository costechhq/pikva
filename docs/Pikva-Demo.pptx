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8458ca-8287-8457-1c17-df8c2ef849c9}">
          <p14:sldIdLst>
            <p14:sldId id="256"/>
            <p14:sldId id="257"/>
            <p14:sldId id="258"/>
            <p14:sldId id="259"/>
          </p14:sldIdLst>
        </p14:section>
        <p14:section name="Product tour" id="{d626daaf-6507-fedc-f91b-9e74155b87f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lose" id="{09237d0e-b55b-dabf-a3e9-0978676cc14a}">
          <p14:sldIdLst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 in one sentence: schools hand children to whoever turns up. Pikva makes the handover provable. Everything you see in this deck is the real running web app with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promises: authorised, verified, recorded. Each one maps to a screen we will see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storyline for the live demo: add a person as a parent, approve as admin, issue the code, verify at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web app serves all three roles. After sign-in, each person lands on their own home and only sees their own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landing page and sign-in are the only public screens. School accounts are created by the Pikva operator, not self-service.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first when you sign in as the admin. Point at the red bell count and the approvals banner.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add a pickup person with a photo, then show the awaiting-approval badge. After approval, tap Get today's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safeguard that stops a parent account from creating a valid pickup person on its own. Approve one request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wrong code first (red, raises an alert), then the valid code (green, with photos). Release the pupil, then show the same code fails the second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alerts stay loud until resolved. The audit log cannot be edited from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admins can view, edit and deactivate pickup people but only parents can add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Admins see who released the child. Parents see the history but not the staff member's name,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pages adapt: sidebar on desktop, drawer or bottom tabs on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counts are lower bounds from the last full release check. Re-run the suites before quoting exact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school is the customer. Parents and gate staff never pay. The price is a proposal to test with the pilot school, not a final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per extra pupil is tiny. The real work is onboarding and support. Land one school, prove it, then grow by referral.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the web app is feature-complete for a supervised pilot. The mobile app and production setup are the next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for the demo: admin sign-in, add a pickup person as the parent, approve, issue the code, verify at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2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0F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Pikva  |  School pickup management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0F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hip"/>
          <p:cNvSpPr/>
          <p:nvPr/>
        </p:nvSpPr>
        <p:spPr>
          <a:xfrm>
            <a:off x="502920" y="411480"/>
            <a:ext cx="2286000" cy="86868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Pikva logo" descr="Pikv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975104" cy="595000"/>
          </a:xfrm>
          <a:prstGeom prst="rect">
            <a:avLst/>
          </a:prstGeom>
        </p:spPr>
      </p:pic>
      <p:sp>
        <p:nvSpPr>
          <p:cNvPr id="4" name="Title text"/>
          <p:cNvSpPr txBox="1"/>
          <p:nvPr/>
        </p:nvSpPr>
        <p:spPr>
          <a:xfrm>
            <a:off x="640080" y="18288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Send every child home with </a:t>
            </a:r>
            <a:pPr indent="0" marL="0">
              <a:buNone/>
            </a:pPr>
            <a:r>
              <a:rPr lang="en-US" sz="4800" b="1" dirty="0">
                <a:solidFill>
                  <a:srgbClr val="FFC933"/>
                </a:solidFill>
              </a:rPr>
              <a:t>the right person.</a:t>
            </a:r>
            <a:endParaRPr lang="en-US" sz="4800" dirty="0"/>
          </a:p>
        </p:txBody>
      </p:sp>
      <p:sp>
        <p:nvSpPr>
          <p:cNvPr id="5" name="Tagline"/>
          <p:cNvSpPr txBox="1"/>
          <p:nvPr/>
        </p:nvSpPr>
        <p:spPr>
          <a:xfrm>
            <a:off x="640080" y="4251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8FF"/>
                </a:solidFill>
              </a:rPr>
              <a:t>Authorise  ·  Approve  ·  Verify  ·  Record</a:t>
            </a:r>
            <a:endParaRPr lang="en-US" sz="1800" dirty="0"/>
          </a:p>
        </p:txBody>
      </p:sp>
      <p:sp>
        <p:nvSpPr>
          <p:cNvPr id="6" name="Footnote"/>
          <p:cNvSpPr txBox="1"/>
          <p:nvPr/>
        </p:nvSpPr>
        <p:spPr>
          <a:xfrm>
            <a:off x="640080" y="5989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2D6"/>
                </a:solidFill>
              </a:rPr>
              <a:t>Live project demo  ·  Screens show the running app with demo data</a:t>
            </a:r>
            <a:endParaRPr lang="en-US" sz="1200" dirty="0"/>
          </a:p>
        </p:txBody>
      </p:sp>
      <p:sp>
        <p:nvSpPr>
          <p:cNvPr id="7" name="Admin dashboard bezel"/>
          <p:cNvSpPr/>
          <p:nvPr/>
        </p:nvSpPr>
        <p:spPr>
          <a:xfrm>
            <a:off x="6638544" y="1060704"/>
            <a:ext cx="5010912" cy="3193542"/>
          </a:xfrm>
          <a:prstGeom prst="roundRect">
            <a:avLst>
              <a:gd name="adj" fmla="val 2863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8" name="Admin dashboard screenshot" descr="Admin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846320" cy="3028950"/>
          </a:xfrm>
          <a:prstGeom prst="rect">
            <a:avLst/>
          </a:prstGeom>
        </p:spPr>
      </p:pic>
      <p:sp>
        <p:nvSpPr>
          <p:cNvPr id="9" name="Admin dashboard base"/>
          <p:cNvSpPr/>
          <p:nvPr/>
        </p:nvSpPr>
        <p:spPr>
          <a:xfrm>
            <a:off x="6455664" y="4254246"/>
            <a:ext cx="537667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10" name="Parent pickup code bezel"/>
          <p:cNvSpPr/>
          <p:nvPr/>
        </p:nvSpPr>
        <p:spPr>
          <a:xfrm>
            <a:off x="9902952" y="2770632"/>
            <a:ext cx="1545336" cy="3195242"/>
          </a:xfrm>
          <a:prstGeom prst="roundRect">
            <a:avLst>
              <a:gd name="adj" fmla="val 16568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11" name="Parent pickup code screenshot" descr="Parent pickup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834640"/>
            <a:ext cx="1417320" cy="30672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0F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is the riskiest minute of the school day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4" name="Only authorised people badg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5" name="Only authorised people icon" descr="Only authorised peo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6" name="Card 1 heading"/>
          <p:cNvSpPr txBox="1"/>
          <p:nvPr/>
        </p:nvSpPr>
        <p:spPr>
          <a:xfrm>
            <a:off x="91440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45"/>
                </a:solidFill>
              </a:rPr>
              <a:t>Only authorised people</a:t>
            </a:r>
            <a:endParaRPr lang="en-US" sz="2200" dirty="0"/>
          </a:p>
        </p:txBody>
      </p:sp>
      <p:sp>
        <p:nvSpPr>
          <p:cNvPr id="7" name="Card 1 text"/>
          <p:cNvSpPr txBox="1"/>
          <p:nvPr/>
        </p:nvSpPr>
        <p:spPr>
          <a:xfrm>
            <a:off x="914400" y="37490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Parents name who may collect. The school approves each person before they ever can.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297680" y="1737360"/>
            <a:ext cx="3520440" cy="35661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9" name="Every handover verified badge"/>
          <p:cNvSpPr/>
          <p:nvPr/>
        </p:nvSpPr>
        <p:spPr>
          <a:xfrm>
            <a:off x="4663440" y="2103120"/>
            <a:ext cx="868680" cy="86868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10" name="Every handover verified icon" descr="Every handover verifi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2320290"/>
            <a:ext cx="434340" cy="434340"/>
          </a:xfrm>
          <a:prstGeom prst="rect">
            <a:avLst/>
          </a:prstGeom>
        </p:spPr>
      </p:pic>
      <p:sp>
        <p:nvSpPr>
          <p:cNvPr id="11" name="Card 2 heading"/>
          <p:cNvSpPr txBox="1"/>
          <p:nvPr/>
        </p:nvSpPr>
        <p:spPr>
          <a:xfrm>
            <a:off x="466344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45"/>
                </a:solidFill>
              </a:rPr>
              <a:t>Every handover verified</a:t>
            </a:r>
            <a:endParaRPr lang="en-US" sz="2200" dirty="0"/>
          </a:p>
        </p:txBody>
      </p:sp>
      <p:sp>
        <p:nvSpPr>
          <p:cNvPr id="12" name="Card 2 text"/>
          <p:cNvSpPr txBox="1"/>
          <p:nvPr/>
        </p:nvSpPr>
        <p:spPr>
          <a:xfrm>
            <a:off x="4663440" y="37490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A single-use daily code, shown as text and QR, checked at the gate against a photo.</a:t>
            </a:r>
            <a:endParaRPr lang="en-US" sz="1500" dirty="0"/>
          </a:p>
        </p:txBody>
      </p:sp>
      <p:sp>
        <p:nvSpPr>
          <p:cNvPr id="13" name="Card 3"/>
          <p:cNvSpPr/>
          <p:nvPr/>
        </p:nvSpPr>
        <p:spPr>
          <a:xfrm>
            <a:off x="8046720" y="1737360"/>
            <a:ext cx="3520440" cy="35661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14" name="Nothing unrecorded badge"/>
          <p:cNvSpPr/>
          <p:nvPr/>
        </p:nvSpPr>
        <p:spPr>
          <a:xfrm>
            <a:off x="8412480" y="2103120"/>
            <a:ext cx="868680" cy="86868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15" name="Nothing unrecorded icon" descr="Nothing unrecord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320290"/>
            <a:ext cx="434340" cy="434340"/>
          </a:xfrm>
          <a:prstGeom prst="rect">
            <a:avLst/>
          </a:prstGeom>
        </p:spPr>
      </p:pic>
      <p:sp>
        <p:nvSpPr>
          <p:cNvPr id="16" name="Card 3 heading"/>
          <p:cNvSpPr txBox="1"/>
          <p:nvPr/>
        </p:nvSpPr>
        <p:spPr>
          <a:xfrm>
            <a:off x="8412480" y="3246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245"/>
                </a:solidFill>
              </a:rPr>
              <a:t>Nothing unrecorded</a:t>
            </a:r>
            <a:endParaRPr lang="en-US" sz="2200" dirty="0"/>
          </a:p>
        </p:txBody>
      </p:sp>
      <p:sp>
        <p:nvSpPr>
          <p:cNvPr id="17" name="Card 3 text"/>
          <p:cNvSpPr txBox="1"/>
          <p:nvPr/>
        </p:nvSpPr>
        <p:spPr>
          <a:xfrm>
            <a:off x="8412480" y="37490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Who collected, who released and when. Failed attempts raise alerts straight away.</a:t>
            </a:r>
            <a:endParaRPr lang="en-US" sz="1500" dirty="0"/>
          </a:p>
        </p:txBody>
      </p:sp>
      <p:sp>
        <p:nvSpPr>
          <p:cNvPr id="18" name="Summary line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1B7E"/>
                </a:solidFill>
              </a:rPr>
              <a:t>Today: a name on a list, or a familiar face. With Pikva: a rule the whole school follows.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pickup works, end to end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548640" y="201168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4" name="Parent adds badge"/>
          <p:cNvSpPr/>
          <p:nvPr/>
        </p:nvSpPr>
        <p:spPr>
          <a:xfrm>
            <a:off x="777240" y="2240280"/>
            <a:ext cx="731520" cy="73152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5" name="Parent adds icon" descr="Parent ad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365760" cy="365760"/>
          </a:xfrm>
          <a:prstGeom prst="rect">
            <a:avLst/>
          </a:prstGeom>
        </p:spPr>
      </p:pic>
      <p:sp>
        <p:nvSpPr>
          <p:cNvPr id="6" name="Step 1 number"/>
          <p:cNvSpPr txBox="1"/>
          <p:nvPr/>
        </p:nvSpPr>
        <p:spPr>
          <a:xfrm>
            <a:off x="192024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B0EE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tep 1 heading"/>
          <p:cNvSpPr txBox="1"/>
          <p:nvPr/>
        </p:nvSpPr>
        <p:spPr>
          <a:xfrm>
            <a:off x="77724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Parent adds</a:t>
            </a:r>
            <a:endParaRPr lang="en-US" sz="1700" dirty="0"/>
          </a:p>
        </p:txBody>
      </p:sp>
      <p:sp>
        <p:nvSpPr>
          <p:cNvPr id="8" name="Step 1 text"/>
          <p:cNvSpPr txBox="1"/>
          <p:nvPr/>
        </p:nvSpPr>
        <p:spPr>
          <a:xfrm>
            <a:off x="777240" y="3611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Names a pickup person and uploads their photo</a:t>
            </a:r>
            <a:endParaRPr lang="en-US" sz="1400" dirty="0"/>
          </a:p>
        </p:txBody>
      </p:sp>
      <p:sp>
        <p:nvSpPr>
          <p:cNvPr id="9" name="Step 1 role"/>
          <p:cNvSpPr txBox="1"/>
          <p:nvPr/>
        </p:nvSpPr>
        <p:spPr>
          <a:xfrm>
            <a:off x="77724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BD6"/>
                </a:solidFill>
              </a:rPr>
              <a:t>PARENT</a:t>
            </a:r>
            <a:endParaRPr lang="en-US" sz="1100" dirty="0"/>
          </a:p>
        </p:txBody>
      </p:sp>
      <p:sp>
        <p:nvSpPr>
          <p:cNvPr id="10" name="Step 2"/>
          <p:cNvSpPr/>
          <p:nvPr/>
        </p:nvSpPr>
        <p:spPr>
          <a:xfrm>
            <a:off x="2811780" y="201168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11" name="School approves badge"/>
          <p:cNvSpPr/>
          <p:nvPr/>
        </p:nvSpPr>
        <p:spPr>
          <a:xfrm>
            <a:off x="3040380" y="2240280"/>
            <a:ext cx="731520" cy="73152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12" name="School approves icon" descr="School approv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2423160"/>
            <a:ext cx="365760" cy="365760"/>
          </a:xfrm>
          <a:prstGeom prst="rect">
            <a:avLst/>
          </a:prstGeom>
        </p:spPr>
      </p:pic>
      <p:sp>
        <p:nvSpPr>
          <p:cNvPr id="13" name="Step 2 number"/>
          <p:cNvSpPr txBox="1"/>
          <p:nvPr/>
        </p:nvSpPr>
        <p:spPr>
          <a:xfrm>
            <a:off x="418338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B0EE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Step 2 heading"/>
          <p:cNvSpPr txBox="1"/>
          <p:nvPr/>
        </p:nvSpPr>
        <p:spPr>
          <a:xfrm>
            <a:off x="304038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School approves</a:t>
            </a:r>
            <a:endParaRPr lang="en-US" sz="1700" dirty="0"/>
          </a:p>
        </p:txBody>
      </p:sp>
      <p:sp>
        <p:nvSpPr>
          <p:cNvPr id="15" name="Step 2 text"/>
          <p:cNvSpPr txBox="1"/>
          <p:nvPr/>
        </p:nvSpPr>
        <p:spPr>
          <a:xfrm>
            <a:off x="3040380" y="3611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Admin reviews and approves before anyone can collect</a:t>
            </a:r>
            <a:endParaRPr lang="en-US" sz="1400" dirty="0"/>
          </a:p>
        </p:txBody>
      </p:sp>
      <p:sp>
        <p:nvSpPr>
          <p:cNvPr id="16" name="Step 2 role"/>
          <p:cNvSpPr txBox="1"/>
          <p:nvPr/>
        </p:nvSpPr>
        <p:spPr>
          <a:xfrm>
            <a:off x="304038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BD6"/>
                </a:solidFill>
              </a:rPr>
              <a:t>SCHOOL ADMIN</a:t>
            </a:r>
            <a:endParaRPr lang="en-US" sz="1100" dirty="0"/>
          </a:p>
        </p:txBody>
      </p:sp>
      <p:sp>
        <p:nvSpPr>
          <p:cNvPr id="17" name="Step 3"/>
          <p:cNvSpPr/>
          <p:nvPr/>
        </p:nvSpPr>
        <p:spPr>
          <a:xfrm>
            <a:off x="5074920" y="201168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18" name="Code issued badge"/>
          <p:cNvSpPr/>
          <p:nvPr/>
        </p:nvSpPr>
        <p:spPr>
          <a:xfrm>
            <a:off x="5303520" y="2240280"/>
            <a:ext cx="731520" cy="73152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19" name="Code issued icon" descr="Code issu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23160"/>
            <a:ext cx="365760" cy="365760"/>
          </a:xfrm>
          <a:prstGeom prst="rect">
            <a:avLst/>
          </a:prstGeom>
        </p:spPr>
      </p:pic>
      <p:sp>
        <p:nvSpPr>
          <p:cNvPr id="20" name="Step 3 number"/>
          <p:cNvSpPr txBox="1"/>
          <p:nvPr/>
        </p:nvSpPr>
        <p:spPr>
          <a:xfrm>
            <a:off x="64465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B0EE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Step 3 heading"/>
          <p:cNvSpPr txBox="1"/>
          <p:nvPr/>
        </p:nvSpPr>
        <p:spPr>
          <a:xfrm>
            <a:off x="53035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Code issued</a:t>
            </a:r>
            <a:endParaRPr lang="en-US" sz="1700" dirty="0"/>
          </a:p>
        </p:txBody>
      </p:sp>
      <p:sp>
        <p:nvSpPr>
          <p:cNvPr id="22" name="Step 3 text"/>
          <p:cNvSpPr txBox="1"/>
          <p:nvPr/>
        </p:nvSpPr>
        <p:spPr>
          <a:xfrm>
            <a:off x="5303520" y="3611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Parent gets today's one-time code and QR</a:t>
            </a:r>
            <a:endParaRPr lang="en-US" sz="1400" dirty="0"/>
          </a:p>
        </p:txBody>
      </p:sp>
      <p:sp>
        <p:nvSpPr>
          <p:cNvPr id="23" name="Step 3 role"/>
          <p:cNvSpPr txBox="1"/>
          <p:nvPr/>
        </p:nvSpPr>
        <p:spPr>
          <a:xfrm>
            <a:off x="530352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BD6"/>
                </a:solidFill>
              </a:rPr>
              <a:t>PARENT</a:t>
            </a:r>
            <a:endParaRPr lang="en-US" sz="1100" dirty="0"/>
          </a:p>
        </p:txBody>
      </p:sp>
      <p:sp>
        <p:nvSpPr>
          <p:cNvPr id="24" name="Step 4"/>
          <p:cNvSpPr/>
          <p:nvPr/>
        </p:nvSpPr>
        <p:spPr>
          <a:xfrm>
            <a:off x="7338060" y="2011680"/>
            <a:ext cx="2011680" cy="3108960"/>
          </a:xfrm>
          <a:prstGeom prst="roundRect">
            <a:avLst>
              <a:gd name="adj" fmla="val 6818"/>
            </a:avLst>
          </a:prstGeom>
          <a:solidFill>
            <a:srgbClr val="5B3BD6"/>
          </a:solidFill>
          <a:ln w="9525">
            <a:solidFill>
              <a:srgbClr val="5B3BD6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25" name="Gate verifies badge"/>
          <p:cNvSpPr/>
          <p:nvPr/>
        </p:nvSpPr>
        <p:spPr>
          <a:xfrm>
            <a:off x="7566660" y="2240280"/>
            <a:ext cx="731520" cy="731520"/>
          </a:xfrm>
          <a:prstGeom prst="ellipse">
            <a:avLst/>
          </a:prstGeom>
          <a:solidFill>
            <a:srgbClr val="FFC933"/>
          </a:solidFill>
          <a:ln w="12700">
            <a:solidFill>
              <a:srgbClr val="FFC933"/>
            </a:solidFill>
            <a:prstDash val="solid"/>
          </a:ln>
        </p:spPr>
      </p:sp>
      <p:pic>
        <p:nvPicPr>
          <p:cNvPr id="26" name="Gate verifies icon" descr="Gate verifi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2423160"/>
            <a:ext cx="365760" cy="365760"/>
          </a:xfrm>
          <a:prstGeom prst="rect">
            <a:avLst/>
          </a:prstGeom>
        </p:spPr>
      </p:pic>
      <p:sp>
        <p:nvSpPr>
          <p:cNvPr id="27" name="Step 4 number"/>
          <p:cNvSpPr txBox="1"/>
          <p:nvPr/>
        </p:nvSpPr>
        <p:spPr>
          <a:xfrm>
            <a:off x="87096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C8FF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Step 4 heading"/>
          <p:cNvSpPr txBox="1"/>
          <p:nvPr/>
        </p:nvSpPr>
        <p:spPr>
          <a:xfrm>
            <a:off x="756666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Gate verifies</a:t>
            </a:r>
            <a:endParaRPr lang="en-US" sz="1700" dirty="0"/>
          </a:p>
        </p:txBody>
      </p:sp>
      <p:sp>
        <p:nvSpPr>
          <p:cNvPr id="29" name="Step 4 text"/>
          <p:cNvSpPr txBox="1"/>
          <p:nvPr/>
        </p:nvSpPr>
        <p:spPr>
          <a:xfrm>
            <a:off x="7566660" y="3611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1FF"/>
                </a:solidFill>
              </a:rPr>
              <a:t>Staff check the code and match the face to the photo</a:t>
            </a:r>
            <a:endParaRPr lang="en-US" sz="1400" dirty="0"/>
          </a:p>
        </p:txBody>
      </p:sp>
      <p:sp>
        <p:nvSpPr>
          <p:cNvPr id="30" name="Step 4 role"/>
          <p:cNvSpPr txBox="1"/>
          <p:nvPr/>
        </p:nvSpPr>
        <p:spPr>
          <a:xfrm>
            <a:off x="756666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933"/>
                </a:solidFill>
              </a:rPr>
              <a:t>GATE STAFF</a:t>
            </a:r>
            <a:endParaRPr lang="en-US" sz="1100" dirty="0"/>
          </a:p>
        </p:txBody>
      </p:sp>
      <p:sp>
        <p:nvSpPr>
          <p:cNvPr id="31" name="Step 5"/>
          <p:cNvSpPr/>
          <p:nvPr/>
        </p:nvSpPr>
        <p:spPr>
          <a:xfrm>
            <a:off x="9601200" y="201168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  <a:effectLst>
            <a:outerShdw sx="100000" sy="100000" kx="0" ky="0" algn="bl" rotWithShape="0" blurRad="127000" dist="38100" dir="5400000">
              <a:srgbClr val="1B1245">
                <a:alpha val="12000"/>
              </a:srgbClr>
            </a:outerShdw>
          </a:effectLst>
        </p:spPr>
      </p:sp>
      <p:sp>
        <p:nvSpPr>
          <p:cNvPr id="32" name="Pupil released badge"/>
          <p:cNvSpPr/>
          <p:nvPr/>
        </p:nvSpPr>
        <p:spPr>
          <a:xfrm>
            <a:off x="9829800" y="2240280"/>
            <a:ext cx="731520" cy="73152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pic>
        <p:nvPicPr>
          <p:cNvPr id="33" name="Pupil released icon" descr="Pupil releas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423160"/>
            <a:ext cx="365760" cy="365760"/>
          </a:xfrm>
          <a:prstGeom prst="rect">
            <a:avLst/>
          </a:prstGeom>
        </p:spPr>
      </p:pic>
      <p:sp>
        <p:nvSpPr>
          <p:cNvPr id="34" name="Step 5 number"/>
          <p:cNvSpPr txBox="1"/>
          <p:nvPr/>
        </p:nvSpPr>
        <p:spPr>
          <a:xfrm>
            <a:off x="10972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9B0EE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Step 5 heading"/>
          <p:cNvSpPr txBox="1"/>
          <p:nvPr/>
        </p:nvSpPr>
        <p:spPr>
          <a:xfrm>
            <a:off x="98298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Pupil released</a:t>
            </a:r>
            <a:endParaRPr lang="en-US" sz="1700" dirty="0"/>
          </a:p>
        </p:txBody>
      </p:sp>
      <p:sp>
        <p:nvSpPr>
          <p:cNvPr id="36" name="Step 5 text"/>
          <p:cNvSpPr txBox="1"/>
          <p:nvPr/>
        </p:nvSpPr>
        <p:spPr>
          <a:xfrm>
            <a:off x="9829800" y="36118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Logged in history and the audit trail</a:t>
            </a:r>
            <a:endParaRPr lang="en-US" sz="1400" dirty="0"/>
          </a:p>
        </p:txBody>
      </p:sp>
      <p:sp>
        <p:nvSpPr>
          <p:cNvPr id="37" name="Step 5 role"/>
          <p:cNvSpPr txBox="1"/>
          <p:nvPr/>
        </p:nvSpPr>
        <p:spPr>
          <a:xfrm>
            <a:off x="982980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BD6"/>
                </a:solidFill>
              </a:rPr>
              <a:t>AUTOMATIC</a:t>
            </a:r>
            <a:endParaRPr lang="en-US" sz="1100" dirty="0"/>
          </a:p>
        </p:txBody>
      </p:sp>
      <p:sp>
        <p:nvSpPr>
          <p:cNvPr id="38" name="Summary line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1B7E"/>
                </a:solidFill>
              </a:rPr>
              <a:t>Three roles, three screens: the parent authorises, the school controls, the gate decides.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people</a:t>
            </a:r>
            <a:endParaRPr lang="en-US" sz="3600" dirty="0"/>
          </a:p>
        </p:txBody>
      </p:sp>
      <p:sp>
        <p:nvSpPr>
          <p:cNvPr id="3" name="Role card 1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4" name="School admin bezel"/>
          <p:cNvSpPr/>
          <p:nvPr/>
        </p:nvSpPr>
        <p:spPr>
          <a:xfrm>
            <a:off x="969264" y="1700784"/>
            <a:ext cx="2679192" cy="1736217"/>
          </a:xfrm>
          <a:prstGeom prst="roundRect">
            <a:avLst>
              <a:gd name="adj" fmla="val 5267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5" name="School admin screenshot" descr="School adm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2514600" cy="1571625"/>
          </a:xfrm>
          <a:prstGeom prst="rect">
            <a:avLst/>
          </a:prstGeom>
        </p:spPr>
      </p:pic>
      <p:sp>
        <p:nvSpPr>
          <p:cNvPr id="6" name="School admin base"/>
          <p:cNvSpPr/>
          <p:nvPr/>
        </p:nvSpPr>
        <p:spPr>
          <a:xfrm>
            <a:off x="786384" y="3437001"/>
            <a:ext cx="304495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7" name="School admin heading"/>
          <p:cNvSpPr txBox="1"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245"/>
                </a:solidFill>
              </a:rPr>
              <a:t>School admin</a:t>
            </a:r>
            <a:endParaRPr lang="en-US" sz="2000" dirty="0"/>
          </a:p>
        </p:txBody>
      </p:sp>
      <p:sp>
        <p:nvSpPr>
          <p:cNvPr id="8" name="Role card 2"/>
          <p:cNvSpPr/>
          <p:nvPr/>
        </p:nvSpPr>
        <p:spPr>
          <a:xfrm>
            <a:off x="4297680" y="1463040"/>
            <a:ext cx="3520440" cy="466344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9" name="Parent bezel"/>
          <p:cNvSpPr/>
          <p:nvPr/>
        </p:nvSpPr>
        <p:spPr>
          <a:xfrm>
            <a:off x="5285232" y="1627632"/>
            <a:ext cx="1545336" cy="3195242"/>
          </a:xfrm>
          <a:prstGeom prst="roundRect">
            <a:avLst>
              <a:gd name="adj" fmla="val 16568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10" name="Parent screenshot" descr="Par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691640"/>
            <a:ext cx="1417320" cy="3067226"/>
          </a:xfrm>
          <a:prstGeom prst="rect">
            <a:avLst/>
          </a:prstGeom>
        </p:spPr>
      </p:pic>
      <p:sp>
        <p:nvSpPr>
          <p:cNvPr id="11" name="Parent heading"/>
          <p:cNvSpPr txBox="1"/>
          <p:nvPr/>
        </p:nvSpPr>
        <p:spPr>
          <a:xfrm>
            <a:off x="4572000" y="5074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245"/>
                </a:solidFill>
              </a:rPr>
              <a:t>Parent</a:t>
            </a:r>
            <a:endParaRPr lang="en-US" sz="2000" dirty="0"/>
          </a:p>
        </p:txBody>
      </p:sp>
      <p:sp>
        <p:nvSpPr>
          <p:cNvPr id="12" name="Role card 3"/>
          <p:cNvSpPr/>
          <p:nvPr/>
        </p:nvSpPr>
        <p:spPr>
          <a:xfrm>
            <a:off x="8046720" y="1463040"/>
            <a:ext cx="3520440" cy="466344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13" name="Gate staff bezel"/>
          <p:cNvSpPr/>
          <p:nvPr/>
        </p:nvSpPr>
        <p:spPr>
          <a:xfrm>
            <a:off x="9034272" y="1627632"/>
            <a:ext cx="1545336" cy="3195242"/>
          </a:xfrm>
          <a:prstGeom prst="roundRect">
            <a:avLst>
              <a:gd name="adj" fmla="val 16568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14" name="Gate staff screenshot" descr="Gate sta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691640"/>
            <a:ext cx="1417320" cy="3067226"/>
          </a:xfrm>
          <a:prstGeom prst="rect">
            <a:avLst/>
          </a:prstGeom>
        </p:spPr>
      </p:pic>
      <p:sp>
        <p:nvSpPr>
          <p:cNvPr id="15" name="Gate staff heading"/>
          <p:cNvSpPr txBox="1"/>
          <p:nvPr/>
        </p:nvSpPr>
        <p:spPr>
          <a:xfrm>
            <a:off x="8321040" y="5074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245"/>
                </a:solidFill>
              </a:rPr>
              <a:t>Gate staff</a:t>
            </a:r>
            <a:endParaRPr lang="en-US" sz="2000" dirty="0"/>
          </a:p>
        </p:txBody>
      </p:sp>
      <p:sp>
        <p:nvSpPr>
          <p:cNvPr id="16" name="Admin text"/>
          <p:cNvSpPr txBox="1"/>
          <p:nvPr/>
        </p:nvSpPr>
        <p:spPr>
          <a:xfrm>
            <a:off x="822960" y="4160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Runs the school's setup, approves people, watches alerts and history.</a:t>
            </a:r>
            <a:endParaRPr lang="en-US" sz="1400" dirty="0"/>
          </a:p>
        </p:txBody>
      </p:sp>
      <p:sp>
        <p:nvSpPr>
          <p:cNvPr id="17" name="Admin device"/>
          <p:cNvSpPr txBox="1"/>
          <p:nvPr/>
        </p:nvSpPr>
        <p:spPr>
          <a:xfrm>
            <a:off x="822960" y="5577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3BD6"/>
                </a:solidFill>
              </a:rPr>
              <a:t>LAPTOP OR DESKTOP</a:t>
            </a:r>
            <a:endParaRPr lang="en-US" sz="1100" dirty="0"/>
          </a:p>
        </p:txBody>
      </p:sp>
      <p:sp>
        <p:nvSpPr>
          <p:cNvPr id="18" name="Parent text"/>
          <p:cNvSpPr txBox="1"/>
          <p:nvPr/>
        </p:nvSpPr>
        <p:spPr>
          <a:xfrm>
            <a:off x="4572000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780"/>
                </a:solidFill>
              </a:rPr>
              <a:t>Authorises pickup people and gets the daily code. Works on a phone.</a:t>
            </a:r>
            <a:endParaRPr lang="en-US" sz="1300" dirty="0"/>
          </a:p>
        </p:txBody>
      </p:sp>
      <p:sp>
        <p:nvSpPr>
          <p:cNvPr id="19" name="Gate text"/>
          <p:cNvSpPr txBox="1"/>
          <p:nvPr/>
        </p:nvSpPr>
        <p:spPr>
          <a:xfrm>
            <a:off x="8321040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5780"/>
                </a:solidFill>
              </a:rPr>
              <a:t>Checks the code, compares the photo, releases or refuses.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front door</a:t>
            </a:r>
            <a:endParaRPr lang="en-US" sz="3600" dirty="0"/>
          </a:p>
        </p:txBody>
      </p:sp>
      <p:sp>
        <p:nvSpPr>
          <p:cNvPr id="3" name="Landing page bezel"/>
          <p:cNvSpPr/>
          <p:nvPr/>
        </p:nvSpPr>
        <p:spPr>
          <a:xfrm>
            <a:off x="649224" y="1517904"/>
            <a:ext cx="6931152" cy="4393692"/>
          </a:xfrm>
          <a:prstGeom prst="roundRect">
            <a:avLst>
              <a:gd name="adj" fmla="val 2081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Landing page screenshot" descr="Landing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766560" cy="4229100"/>
          </a:xfrm>
          <a:prstGeom prst="rect">
            <a:avLst/>
          </a:prstGeom>
        </p:spPr>
      </p:pic>
      <p:sp>
        <p:nvSpPr>
          <p:cNvPr id="5" name="Landing page base"/>
          <p:cNvSpPr/>
          <p:nvPr/>
        </p:nvSpPr>
        <p:spPr>
          <a:xfrm>
            <a:off x="466344" y="5911596"/>
            <a:ext cx="729691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Sign-in on a phone bezel"/>
          <p:cNvSpPr/>
          <p:nvPr/>
        </p:nvSpPr>
        <p:spPr>
          <a:xfrm>
            <a:off x="8942832" y="1353312"/>
            <a:ext cx="1773936" cy="3689956"/>
          </a:xfrm>
          <a:prstGeom prst="roundRect">
            <a:avLst>
              <a:gd name="adj" fmla="val 14433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Sign-in on a phone screenshot" descr="Sign-in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17320"/>
            <a:ext cx="1645920" cy="3561940"/>
          </a:xfrm>
          <a:prstGeom prst="rect">
            <a:avLst/>
          </a:prstGeom>
        </p:spPr>
      </p:pic>
      <p:sp>
        <p:nvSpPr>
          <p:cNvPr id="8" name="Public landing page heading"/>
          <p:cNvSpPr txBox="1"/>
          <p:nvPr/>
        </p:nvSpPr>
        <p:spPr>
          <a:xfrm>
            <a:off x="800100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Public landing page</a:t>
            </a:r>
            <a:endParaRPr lang="en-US" sz="1800" dirty="0"/>
          </a:p>
        </p:txBody>
      </p:sp>
      <p:sp>
        <p:nvSpPr>
          <p:cNvPr id="9" name="Public landing page text"/>
          <p:cNvSpPr txBox="1"/>
          <p:nvPr/>
        </p:nvSpPr>
        <p:spPr>
          <a:xfrm>
            <a:off x="8001000" y="5532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Explains Pikva in one screen. Schools sign in; there is no open sign-up.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admin: the whole school at a glance</a:t>
            </a:r>
            <a:endParaRPr lang="en-US" sz="3600" dirty="0"/>
          </a:p>
        </p:txBody>
      </p:sp>
      <p:sp>
        <p:nvSpPr>
          <p:cNvPr id="3" name="Admin dashboard bezel"/>
          <p:cNvSpPr/>
          <p:nvPr/>
        </p:nvSpPr>
        <p:spPr>
          <a:xfrm>
            <a:off x="4581144" y="1472184"/>
            <a:ext cx="7114032" cy="4507992"/>
          </a:xfrm>
          <a:prstGeom prst="roundRect">
            <a:avLst>
              <a:gd name="adj" fmla="val 2028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Admin dashboard screenshot" descr="Admi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54480"/>
            <a:ext cx="6949440" cy="4343400"/>
          </a:xfrm>
          <a:prstGeom prst="rect">
            <a:avLst/>
          </a:prstGeom>
        </p:spPr>
      </p:pic>
      <p:sp>
        <p:nvSpPr>
          <p:cNvPr id="5" name="Admin dashboard base"/>
          <p:cNvSpPr/>
          <p:nvPr/>
        </p:nvSpPr>
        <p:spPr>
          <a:xfrm>
            <a:off x="4398264" y="5980176"/>
            <a:ext cx="747979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Live numbers badge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7" name="Live numbers icon" descr="Live numb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1833372"/>
            <a:ext cx="283464" cy="283464"/>
          </a:xfrm>
          <a:prstGeom prst="rect">
            <a:avLst/>
          </a:prstGeom>
        </p:spPr>
      </p:pic>
      <p:sp>
        <p:nvSpPr>
          <p:cNvPr id="8" name="Live numbers heading"/>
          <p:cNvSpPr txBox="1"/>
          <p:nvPr/>
        </p:nvSpPr>
        <p:spPr>
          <a:xfrm>
            <a:off x="1325880" y="16642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Live numbers</a:t>
            </a:r>
            <a:endParaRPr lang="en-US" sz="1800" dirty="0"/>
          </a:p>
        </p:txBody>
      </p:sp>
      <p:sp>
        <p:nvSpPr>
          <p:cNvPr id="9" name="Live numbers text"/>
          <p:cNvSpPr txBox="1"/>
          <p:nvPr/>
        </p:nvSpPr>
        <p:spPr>
          <a:xfrm>
            <a:off x="1325880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Pupils, active pickup people and pickups today.</a:t>
            </a:r>
            <a:endParaRPr lang="en-US" sz="1400" dirty="0"/>
          </a:p>
        </p:txBody>
      </p:sp>
      <p:sp>
        <p:nvSpPr>
          <p:cNvPr id="10" name="Approvals waiting badge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1" name="Approvals waiting icon" descr="Approvals wai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930652"/>
            <a:ext cx="283464" cy="283464"/>
          </a:xfrm>
          <a:prstGeom prst="rect">
            <a:avLst/>
          </a:prstGeom>
        </p:spPr>
      </p:pic>
      <p:sp>
        <p:nvSpPr>
          <p:cNvPr id="12" name="Approvals waiting heading"/>
          <p:cNvSpPr txBox="1"/>
          <p:nvPr/>
        </p:nvSpPr>
        <p:spPr>
          <a:xfrm>
            <a:off x="1325880" y="276148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Approvals waiting</a:t>
            </a:r>
            <a:endParaRPr lang="en-US" sz="1800" dirty="0"/>
          </a:p>
        </p:txBody>
      </p:sp>
      <p:sp>
        <p:nvSpPr>
          <p:cNvPr id="13" name="Approvals waiting text"/>
          <p:cNvSpPr txBox="1"/>
          <p:nvPr/>
        </p:nvSpPr>
        <p:spPr>
          <a:xfrm>
            <a:off x="1325880" y="3063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 banner links straight to the review queue.</a:t>
            </a:r>
            <a:endParaRPr lang="en-US" sz="1400" dirty="0"/>
          </a:p>
        </p:txBody>
      </p:sp>
      <p:sp>
        <p:nvSpPr>
          <p:cNvPr id="14" name="Security alerts badge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5" name="Security alerts icon" descr="Security ale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027932"/>
            <a:ext cx="283464" cy="283464"/>
          </a:xfrm>
          <a:prstGeom prst="rect">
            <a:avLst/>
          </a:prstGeom>
        </p:spPr>
      </p:pic>
      <p:sp>
        <p:nvSpPr>
          <p:cNvPr id="16" name="Security alerts heading"/>
          <p:cNvSpPr txBox="1"/>
          <p:nvPr/>
        </p:nvSpPr>
        <p:spPr>
          <a:xfrm>
            <a:off x="1325880" y="3858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Security alerts</a:t>
            </a:r>
            <a:endParaRPr lang="en-US" sz="1800" dirty="0"/>
          </a:p>
        </p:txBody>
      </p:sp>
      <p:sp>
        <p:nvSpPr>
          <p:cNvPr id="17" name="Security alerts text"/>
          <p:cNvSpPr txBox="1"/>
          <p:nvPr/>
        </p:nvSpPr>
        <p:spPr>
          <a:xfrm>
            <a:off x="132588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 bell with a count, a sound and a push notification.</a:t>
            </a:r>
            <a:endParaRPr lang="en-US" sz="1400" dirty="0"/>
          </a:p>
        </p:txBody>
      </p:sp>
      <p:sp>
        <p:nvSpPr>
          <p:cNvPr id="18" name="Today's pickups badge"/>
          <p:cNvSpPr/>
          <p:nvPr/>
        </p:nvSpPr>
        <p:spPr>
          <a:xfrm>
            <a:off x="548640" y="498348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9" name="Today's pickups icon" descr="Today's pickup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125212"/>
            <a:ext cx="283464" cy="283464"/>
          </a:xfrm>
          <a:prstGeom prst="rect">
            <a:avLst/>
          </a:prstGeom>
        </p:spPr>
      </p:pic>
      <p:sp>
        <p:nvSpPr>
          <p:cNvPr id="20" name="Today&amp;apos;s pickups heading"/>
          <p:cNvSpPr txBox="1"/>
          <p:nvPr/>
        </p:nvSpPr>
        <p:spPr>
          <a:xfrm>
            <a:off x="1325880" y="495604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Today's pickups</a:t>
            </a:r>
            <a:endParaRPr lang="en-US" sz="1800" dirty="0"/>
          </a:p>
        </p:txBody>
      </p:sp>
      <p:sp>
        <p:nvSpPr>
          <p:cNvPr id="21" name="Today&amp;apos;s pickups text"/>
          <p:cNvSpPr txBox="1"/>
          <p:nvPr/>
        </p:nvSpPr>
        <p:spPr>
          <a:xfrm>
            <a:off x="1325880" y="5257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Who collected whom, released by which staff member.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authorise people from a phone</a:t>
            </a:r>
            <a:endParaRPr lang="en-US" sz="3600" dirty="0"/>
          </a:p>
        </p:txBody>
      </p:sp>
      <p:sp>
        <p:nvSpPr>
          <p:cNvPr id="3" name="1  See your children bezel"/>
          <p:cNvSpPr/>
          <p:nvPr/>
        </p:nvSpPr>
        <p:spPr>
          <a:xfrm>
            <a:off x="1124712" y="1307592"/>
            <a:ext cx="1819656" cy="3788898"/>
          </a:xfrm>
          <a:prstGeom prst="roundRect">
            <a:avLst>
              <a:gd name="adj" fmla="val 14070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1  See your children screenshot" descr="1  See your childr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1691640" cy="3660882"/>
          </a:xfrm>
          <a:prstGeom prst="rect">
            <a:avLst/>
          </a:prstGeom>
        </p:spPr>
      </p:pic>
      <p:sp>
        <p:nvSpPr>
          <p:cNvPr id="5" name="1  See your children heading"/>
          <p:cNvSpPr txBox="1"/>
          <p:nvPr/>
        </p:nvSpPr>
        <p:spPr>
          <a:xfrm>
            <a:off x="48006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1  See your children</a:t>
            </a:r>
            <a:endParaRPr lang="en-US" sz="1800" dirty="0"/>
          </a:p>
        </p:txBody>
      </p:sp>
      <p:sp>
        <p:nvSpPr>
          <p:cNvPr id="6" name="1  See your children text"/>
          <p:cNvSpPr txBox="1"/>
          <p:nvPr/>
        </p:nvSpPr>
        <p:spPr>
          <a:xfrm>
            <a:off x="480060" y="5623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Overview with each child and their pickup people.</a:t>
            </a:r>
            <a:endParaRPr lang="en-US" sz="1400" dirty="0"/>
          </a:p>
        </p:txBody>
      </p:sp>
      <p:sp>
        <p:nvSpPr>
          <p:cNvPr id="7" name="2  Add a pickup person bezel"/>
          <p:cNvSpPr/>
          <p:nvPr/>
        </p:nvSpPr>
        <p:spPr>
          <a:xfrm>
            <a:off x="5193792" y="1307592"/>
            <a:ext cx="1819656" cy="3788898"/>
          </a:xfrm>
          <a:prstGeom prst="roundRect">
            <a:avLst>
              <a:gd name="adj" fmla="val 14070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8" name="2  Add a pickup person screenshot" descr="2  Add a pickup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371600"/>
            <a:ext cx="1691640" cy="3660882"/>
          </a:xfrm>
          <a:prstGeom prst="rect">
            <a:avLst/>
          </a:prstGeom>
        </p:spPr>
      </p:pic>
      <p:sp>
        <p:nvSpPr>
          <p:cNvPr id="9" name="2  Add a pickup person heading"/>
          <p:cNvSpPr txBox="1"/>
          <p:nvPr/>
        </p:nvSpPr>
        <p:spPr>
          <a:xfrm>
            <a:off x="454914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2  Add a pickup person</a:t>
            </a:r>
            <a:endParaRPr lang="en-US" sz="1800" dirty="0"/>
          </a:p>
        </p:txBody>
      </p:sp>
      <p:sp>
        <p:nvSpPr>
          <p:cNvPr id="10" name="2  Add a pickup person text"/>
          <p:cNvSpPr txBox="1"/>
          <p:nvPr/>
        </p:nvSpPr>
        <p:spPr>
          <a:xfrm>
            <a:off x="4549140" y="5623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Name, phone, dates and a photo from the device.</a:t>
            </a:r>
            <a:endParaRPr lang="en-US" sz="1400" dirty="0"/>
          </a:p>
        </p:txBody>
      </p:sp>
      <p:sp>
        <p:nvSpPr>
          <p:cNvPr id="11" name="3  Get today's code bezel"/>
          <p:cNvSpPr/>
          <p:nvPr/>
        </p:nvSpPr>
        <p:spPr>
          <a:xfrm>
            <a:off x="9262872" y="1307592"/>
            <a:ext cx="1819656" cy="3788898"/>
          </a:xfrm>
          <a:prstGeom prst="roundRect">
            <a:avLst>
              <a:gd name="adj" fmla="val 14070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12" name="3  Get today's code screenshot" descr="3  Get today's 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371600"/>
            <a:ext cx="1691640" cy="3660882"/>
          </a:xfrm>
          <a:prstGeom prst="rect">
            <a:avLst/>
          </a:prstGeom>
        </p:spPr>
      </p:pic>
      <p:sp>
        <p:nvSpPr>
          <p:cNvPr id="13" name="3  Get today&amp;apos;s code heading"/>
          <p:cNvSpPr txBox="1"/>
          <p:nvPr/>
        </p:nvSpPr>
        <p:spPr>
          <a:xfrm>
            <a:off x="861822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3  Get today's code</a:t>
            </a:r>
            <a:endParaRPr lang="en-US" sz="1800" dirty="0"/>
          </a:p>
        </p:txBody>
      </p:sp>
      <p:sp>
        <p:nvSpPr>
          <p:cNvPr id="14" name="3  Get today&amp;apos;s code text"/>
          <p:cNvSpPr txBox="1"/>
          <p:nvPr/>
        </p:nvSpPr>
        <p:spPr>
          <a:xfrm>
            <a:off x="8618220" y="5623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 one-time text code and a QR for the gate.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approves before anyone can collect</a:t>
            </a:r>
            <a:endParaRPr lang="en-US" sz="3600" dirty="0"/>
          </a:p>
        </p:txBody>
      </p:sp>
      <p:sp>
        <p:nvSpPr>
          <p:cNvPr id="3" name="Approvals queue bezel"/>
          <p:cNvSpPr/>
          <p:nvPr/>
        </p:nvSpPr>
        <p:spPr>
          <a:xfrm>
            <a:off x="649224" y="1517904"/>
            <a:ext cx="7114032" cy="4507992"/>
          </a:xfrm>
          <a:prstGeom prst="roundRect">
            <a:avLst>
              <a:gd name="adj" fmla="val 2028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Approvals queue screenshot" descr="Approvals que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949440" cy="4343400"/>
          </a:xfrm>
          <a:prstGeom prst="rect">
            <a:avLst/>
          </a:prstGeom>
        </p:spPr>
      </p:pic>
      <p:sp>
        <p:nvSpPr>
          <p:cNvPr id="5" name="Approvals queue base"/>
          <p:cNvSpPr/>
          <p:nvPr/>
        </p:nvSpPr>
        <p:spPr>
          <a:xfrm>
            <a:off x="466344" y="6025896"/>
            <a:ext cx="747979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Approvals on a phone bezel"/>
          <p:cNvSpPr/>
          <p:nvPr/>
        </p:nvSpPr>
        <p:spPr>
          <a:xfrm>
            <a:off x="8942832" y="1353312"/>
            <a:ext cx="1773936" cy="3689956"/>
          </a:xfrm>
          <a:prstGeom prst="roundRect">
            <a:avLst>
              <a:gd name="adj" fmla="val 14433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Approvals on a phone screenshot" descr="Approvals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17320"/>
            <a:ext cx="1645920" cy="3561940"/>
          </a:xfrm>
          <a:prstGeom prst="rect">
            <a:avLst/>
          </a:prstGeom>
        </p:spPr>
      </p:pic>
      <p:sp>
        <p:nvSpPr>
          <p:cNvPr id="8" name="A second safeguard heading"/>
          <p:cNvSpPr txBox="1"/>
          <p:nvPr/>
        </p:nvSpPr>
        <p:spPr>
          <a:xfrm>
            <a:off x="800100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A second safeguard</a:t>
            </a:r>
            <a:endParaRPr lang="en-US" sz="1800" dirty="0"/>
          </a:p>
        </p:txBody>
      </p:sp>
      <p:sp>
        <p:nvSpPr>
          <p:cNvPr id="9" name="A second safeguard text"/>
          <p:cNvSpPr txBox="1"/>
          <p:nvPr/>
        </p:nvSpPr>
        <p:spPr>
          <a:xfrm>
            <a:off x="8001000" y="5532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Each card shows the photo, the pupil and the sender. Approve or decline in one tap.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staff: green means go, red means stop</a:t>
            </a:r>
            <a:endParaRPr lang="en-US" sz="3600" dirty="0"/>
          </a:p>
        </p:txBody>
      </p:sp>
      <p:sp>
        <p:nvSpPr>
          <p:cNvPr id="3" name="Gate verification bezel"/>
          <p:cNvSpPr/>
          <p:nvPr/>
        </p:nvSpPr>
        <p:spPr>
          <a:xfrm>
            <a:off x="649224" y="1517904"/>
            <a:ext cx="7114032" cy="4507992"/>
          </a:xfrm>
          <a:prstGeom prst="roundRect">
            <a:avLst>
              <a:gd name="adj" fmla="val 2028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Gate verification screenshot" descr="Gate verif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949440" cy="4343400"/>
          </a:xfrm>
          <a:prstGeom prst="rect">
            <a:avLst/>
          </a:prstGeom>
        </p:spPr>
      </p:pic>
      <p:sp>
        <p:nvSpPr>
          <p:cNvPr id="5" name="Gate verification base"/>
          <p:cNvSpPr/>
          <p:nvPr/>
        </p:nvSpPr>
        <p:spPr>
          <a:xfrm>
            <a:off x="466344" y="6025896"/>
            <a:ext cx="747979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Gate on a phone bezel"/>
          <p:cNvSpPr/>
          <p:nvPr/>
        </p:nvSpPr>
        <p:spPr>
          <a:xfrm>
            <a:off x="8942832" y="1353312"/>
            <a:ext cx="1773936" cy="3689956"/>
          </a:xfrm>
          <a:prstGeom prst="roundRect">
            <a:avLst>
              <a:gd name="adj" fmla="val 14433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Gate on a phone screenshot" descr="Gate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17320"/>
            <a:ext cx="1645920" cy="3561940"/>
          </a:xfrm>
          <a:prstGeom prst="rect">
            <a:avLst/>
          </a:prstGeom>
        </p:spPr>
      </p:pic>
      <p:sp>
        <p:nvSpPr>
          <p:cNvPr id="8" name="Check, then release heading"/>
          <p:cNvSpPr txBox="1"/>
          <p:nvPr/>
        </p:nvSpPr>
        <p:spPr>
          <a:xfrm>
            <a:off x="800100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Check, then release</a:t>
            </a:r>
            <a:endParaRPr lang="en-US" sz="1800" dirty="0"/>
          </a:p>
        </p:txBody>
      </p:sp>
      <p:sp>
        <p:nvSpPr>
          <p:cNvPr id="9" name="Check, then release text"/>
          <p:cNvSpPr txBox="1"/>
          <p:nvPr/>
        </p:nvSpPr>
        <p:spPr>
          <a:xfrm>
            <a:off x="8001000" y="5532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Type the code or scan the QR, match the face to the photo, then release or refuse.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raises an alert, every action is logged</a:t>
            </a:r>
            <a:endParaRPr lang="en-US" sz="3600" dirty="0"/>
          </a:p>
        </p:txBody>
      </p:sp>
      <p:sp>
        <p:nvSpPr>
          <p:cNvPr id="3" name="Security alerts bezel"/>
          <p:cNvSpPr/>
          <p:nvPr/>
        </p:nvSpPr>
        <p:spPr>
          <a:xfrm>
            <a:off x="603504" y="1517904"/>
            <a:ext cx="5422392" cy="3450717"/>
          </a:xfrm>
          <a:prstGeom prst="roundRect">
            <a:avLst>
              <a:gd name="adj" fmla="val 2650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Security alerts screenshot" descr="Security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257800" cy="3286125"/>
          </a:xfrm>
          <a:prstGeom prst="rect">
            <a:avLst/>
          </a:prstGeom>
        </p:spPr>
      </p:pic>
      <p:sp>
        <p:nvSpPr>
          <p:cNvPr id="5" name="Security alerts base"/>
          <p:cNvSpPr/>
          <p:nvPr/>
        </p:nvSpPr>
        <p:spPr>
          <a:xfrm>
            <a:off x="420624" y="4968621"/>
            <a:ext cx="578815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Audit log bezel"/>
          <p:cNvSpPr/>
          <p:nvPr/>
        </p:nvSpPr>
        <p:spPr>
          <a:xfrm>
            <a:off x="6181344" y="1517904"/>
            <a:ext cx="5422392" cy="3450717"/>
          </a:xfrm>
          <a:prstGeom prst="roundRect">
            <a:avLst>
              <a:gd name="adj" fmla="val 2650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Audit log screenshot" descr="Audit 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257800" cy="3286125"/>
          </a:xfrm>
          <a:prstGeom prst="rect">
            <a:avLst/>
          </a:prstGeom>
        </p:spPr>
      </p:pic>
      <p:sp>
        <p:nvSpPr>
          <p:cNvPr id="8" name="Audit log base"/>
          <p:cNvSpPr/>
          <p:nvPr/>
        </p:nvSpPr>
        <p:spPr>
          <a:xfrm>
            <a:off x="5998464" y="4968621"/>
            <a:ext cx="578815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9" name="Security alerts heading"/>
          <p:cNvSpPr txBox="1"/>
          <p:nvPr/>
        </p:nvSpPr>
        <p:spPr>
          <a:xfrm>
            <a:off x="685800" y="5349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Security alerts</a:t>
            </a:r>
            <a:endParaRPr lang="en-US" sz="1800" dirty="0"/>
          </a:p>
        </p:txBody>
      </p:sp>
      <p:sp>
        <p:nvSpPr>
          <p:cNvPr id="10" name="Security alerts text"/>
          <p:cNvSpPr txBox="1"/>
          <p:nvPr/>
        </p:nvSpPr>
        <p:spPr>
          <a:xfrm>
            <a:off x="685800" y="5715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Wrong codes and refusals appear at once, by email and push, until an admin resolves them.</a:t>
            </a:r>
            <a:endParaRPr lang="en-US" sz="1400" dirty="0"/>
          </a:p>
        </p:txBody>
      </p:sp>
      <p:sp>
        <p:nvSpPr>
          <p:cNvPr id="11" name="Audit log heading"/>
          <p:cNvSpPr txBox="1"/>
          <p:nvPr/>
        </p:nvSpPr>
        <p:spPr>
          <a:xfrm>
            <a:off x="6263640" y="5349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Audit log</a:t>
            </a:r>
            <a:endParaRPr lang="en-US" sz="1800" dirty="0"/>
          </a:p>
        </p:txBody>
      </p:sp>
      <p:sp>
        <p:nvSpPr>
          <p:cNvPr id="12" name="Audit log text"/>
          <p:cNvSpPr txBox="1"/>
          <p:nvPr/>
        </p:nvSpPr>
        <p:spPr>
          <a:xfrm>
            <a:off x="6263640" y="5715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 read-only record of who did what and when, filterable by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and pickup people, managed in one place</a:t>
            </a:r>
            <a:endParaRPr lang="en-US" sz="3600" dirty="0"/>
          </a:p>
        </p:txBody>
      </p:sp>
      <p:sp>
        <p:nvSpPr>
          <p:cNvPr id="3" name="Pupils bezel"/>
          <p:cNvSpPr/>
          <p:nvPr/>
        </p:nvSpPr>
        <p:spPr>
          <a:xfrm>
            <a:off x="603504" y="1517904"/>
            <a:ext cx="5422392" cy="3450717"/>
          </a:xfrm>
          <a:prstGeom prst="roundRect">
            <a:avLst>
              <a:gd name="adj" fmla="val 2650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Pupils screenshot" descr="Pup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257800" cy="3286125"/>
          </a:xfrm>
          <a:prstGeom prst="rect">
            <a:avLst/>
          </a:prstGeom>
        </p:spPr>
      </p:pic>
      <p:sp>
        <p:nvSpPr>
          <p:cNvPr id="5" name="Pupils base"/>
          <p:cNvSpPr/>
          <p:nvPr/>
        </p:nvSpPr>
        <p:spPr>
          <a:xfrm>
            <a:off x="420624" y="4968621"/>
            <a:ext cx="578815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Pickup people bezel"/>
          <p:cNvSpPr/>
          <p:nvPr/>
        </p:nvSpPr>
        <p:spPr>
          <a:xfrm>
            <a:off x="6181344" y="1517904"/>
            <a:ext cx="5422392" cy="3450717"/>
          </a:xfrm>
          <a:prstGeom prst="roundRect">
            <a:avLst>
              <a:gd name="adj" fmla="val 2650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Pickup people screenshot" descr="Pickup peo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257800" cy="3286125"/>
          </a:xfrm>
          <a:prstGeom prst="rect">
            <a:avLst/>
          </a:prstGeom>
        </p:spPr>
      </p:pic>
      <p:sp>
        <p:nvSpPr>
          <p:cNvPr id="8" name="Pickup people base"/>
          <p:cNvSpPr/>
          <p:nvPr/>
        </p:nvSpPr>
        <p:spPr>
          <a:xfrm>
            <a:off x="5998464" y="4968621"/>
            <a:ext cx="578815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9" name="Pupils heading"/>
          <p:cNvSpPr txBox="1"/>
          <p:nvPr/>
        </p:nvSpPr>
        <p:spPr>
          <a:xfrm>
            <a:off x="685800" y="5349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Pupils</a:t>
            </a:r>
            <a:endParaRPr lang="en-US" sz="1800" dirty="0"/>
          </a:p>
        </p:txBody>
      </p:sp>
      <p:sp>
        <p:nvSpPr>
          <p:cNvPr id="10" name="Pupils text"/>
          <p:cNvSpPr txBox="1"/>
          <p:nvPr/>
        </p:nvSpPr>
        <p:spPr>
          <a:xfrm>
            <a:off x="685800" y="5715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Search by pupil or parent, with parent contact details and pickup counts.</a:t>
            </a:r>
            <a:endParaRPr lang="en-US" sz="1400" dirty="0"/>
          </a:p>
        </p:txBody>
      </p:sp>
      <p:sp>
        <p:nvSpPr>
          <p:cNvPr id="11" name="Pickup people heading"/>
          <p:cNvSpPr txBox="1"/>
          <p:nvPr/>
        </p:nvSpPr>
        <p:spPr>
          <a:xfrm>
            <a:off x="6263640" y="5349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Pickup people</a:t>
            </a:r>
            <a:endParaRPr lang="en-US" sz="1800" dirty="0"/>
          </a:p>
        </p:txBody>
      </p:sp>
      <p:sp>
        <p:nvSpPr>
          <p:cNvPr id="12" name="Pickup people text"/>
          <p:cNvSpPr txBox="1"/>
          <p:nvPr/>
        </p:nvSpPr>
        <p:spPr>
          <a:xfrm>
            <a:off x="6263640" y="5715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Filter by status, edit dates, deactivate or reactivate in one place.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pickup is on the record</a:t>
            </a:r>
            <a:endParaRPr lang="en-US" sz="3600" dirty="0"/>
          </a:p>
        </p:txBody>
      </p:sp>
      <p:sp>
        <p:nvSpPr>
          <p:cNvPr id="3" name="Pickup history bezel"/>
          <p:cNvSpPr/>
          <p:nvPr/>
        </p:nvSpPr>
        <p:spPr>
          <a:xfrm>
            <a:off x="649224" y="1517904"/>
            <a:ext cx="7114032" cy="4507992"/>
          </a:xfrm>
          <a:prstGeom prst="roundRect">
            <a:avLst>
              <a:gd name="adj" fmla="val 2028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Pickup history screenshot" descr="Pickup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949440" cy="4343400"/>
          </a:xfrm>
          <a:prstGeom prst="rect">
            <a:avLst/>
          </a:prstGeom>
        </p:spPr>
      </p:pic>
      <p:sp>
        <p:nvSpPr>
          <p:cNvPr id="5" name="Pickup history base"/>
          <p:cNvSpPr/>
          <p:nvPr/>
        </p:nvSpPr>
        <p:spPr>
          <a:xfrm>
            <a:off x="466344" y="6025896"/>
            <a:ext cx="747979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Parent history on a phone bezel"/>
          <p:cNvSpPr/>
          <p:nvPr/>
        </p:nvSpPr>
        <p:spPr>
          <a:xfrm>
            <a:off x="8942832" y="1353312"/>
            <a:ext cx="1773936" cy="3689956"/>
          </a:xfrm>
          <a:prstGeom prst="roundRect">
            <a:avLst>
              <a:gd name="adj" fmla="val 14433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Parent history on a phone screenshot" descr="Parent history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17320"/>
            <a:ext cx="1645920" cy="3561940"/>
          </a:xfrm>
          <a:prstGeom prst="rect">
            <a:avLst/>
          </a:prstGeom>
        </p:spPr>
      </p:pic>
      <p:sp>
        <p:nvSpPr>
          <p:cNvPr id="8" name="For the school and for parents heading"/>
          <p:cNvSpPr txBox="1"/>
          <p:nvPr/>
        </p:nvSpPr>
        <p:spPr>
          <a:xfrm>
            <a:off x="800100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For the school and for parents</a:t>
            </a:r>
            <a:endParaRPr lang="en-US" sz="1800" dirty="0"/>
          </a:p>
        </p:txBody>
      </p:sp>
      <p:sp>
        <p:nvSpPr>
          <p:cNvPr id="9" name="For the school and for parents text"/>
          <p:cNvSpPr txBox="1"/>
          <p:nvPr/>
        </p:nvSpPr>
        <p:spPr>
          <a:xfrm>
            <a:off x="8001000" y="5532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Admins filter by pupil and date. Parents see their own children's history, without staff names.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desktop and phone</a:t>
            </a:r>
            <a:endParaRPr lang="en-US" sz="3600" dirty="0"/>
          </a:p>
        </p:txBody>
      </p:sp>
      <p:sp>
        <p:nvSpPr>
          <p:cNvPr id="3" name="Parent portal on desktop bezel"/>
          <p:cNvSpPr/>
          <p:nvPr/>
        </p:nvSpPr>
        <p:spPr>
          <a:xfrm>
            <a:off x="649224" y="1655064"/>
            <a:ext cx="5468112" cy="3479292"/>
          </a:xfrm>
          <a:prstGeom prst="roundRect">
            <a:avLst>
              <a:gd name="adj" fmla="val 2628"/>
            </a:avLst>
          </a:prstGeom>
          <a:solidFill>
            <a:srgbClr val="2A2550"/>
          </a:solidFill>
          <a:ln w="9525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4" name="Parent portal on desktop screenshot" descr="Parent portal on 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5303520" cy="3314700"/>
          </a:xfrm>
          <a:prstGeom prst="rect">
            <a:avLst/>
          </a:prstGeom>
        </p:spPr>
      </p:pic>
      <p:sp>
        <p:nvSpPr>
          <p:cNvPr id="5" name="Parent portal on desktop base"/>
          <p:cNvSpPr/>
          <p:nvPr/>
        </p:nvSpPr>
        <p:spPr>
          <a:xfrm>
            <a:off x="466344" y="5134356"/>
            <a:ext cx="5833872" cy="100584"/>
          </a:xfrm>
          <a:prstGeom prst="roundRect">
            <a:avLst>
              <a:gd name="adj" fmla="val 45455"/>
            </a:avLst>
          </a:prstGeom>
          <a:solidFill>
            <a:srgbClr val="CFCBEA"/>
          </a:solidFill>
          <a:ln w="12700">
            <a:solidFill>
              <a:srgbClr val="CFCBEA"/>
            </a:solidFill>
            <a:prstDash val="solid"/>
          </a:ln>
        </p:spPr>
      </p:sp>
      <p:sp>
        <p:nvSpPr>
          <p:cNvPr id="6" name="Alerts on a phone bezel"/>
          <p:cNvSpPr/>
          <p:nvPr/>
        </p:nvSpPr>
        <p:spPr>
          <a:xfrm>
            <a:off x="7251192" y="1353312"/>
            <a:ext cx="1911096" cy="3986784"/>
          </a:xfrm>
          <a:prstGeom prst="roundRect">
            <a:avLst>
              <a:gd name="adj" fmla="val 13397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7" name="Alerts on a phone screenshot" descr="Alerts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17320"/>
            <a:ext cx="1783080" cy="3858768"/>
          </a:xfrm>
          <a:prstGeom prst="rect">
            <a:avLst/>
          </a:prstGeom>
        </p:spPr>
      </p:pic>
      <p:sp>
        <p:nvSpPr>
          <p:cNvPr id="8" name="Approvals on a phone bezel"/>
          <p:cNvSpPr/>
          <p:nvPr/>
        </p:nvSpPr>
        <p:spPr>
          <a:xfrm>
            <a:off x="9628632" y="1353312"/>
            <a:ext cx="1911096" cy="3986784"/>
          </a:xfrm>
          <a:prstGeom prst="roundRect">
            <a:avLst>
              <a:gd name="adj" fmla="val 13397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9" name="Approvals on a phone screenshot" descr="Approvals on a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417320"/>
            <a:ext cx="1783080" cy="3858768"/>
          </a:xfrm>
          <a:prstGeom prst="rect">
            <a:avLst/>
          </a:prstGeom>
        </p:spPr>
      </p:pic>
      <p:sp>
        <p:nvSpPr>
          <p:cNvPr id="10" name="The same app, sized to the screen heading"/>
          <p:cNvSpPr txBox="1"/>
          <p:nvPr/>
        </p:nvSpPr>
        <p:spPr>
          <a:xfrm>
            <a:off x="731520" y="5440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The same app, sized to the screen</a:t>
            </a:r>
            <a:endParaRPr lang="en-US" sz="1800" dirty="0"/>
          </a:p>
        </p:txBody>
      </p:sp>
      <p:sp>
        <p:nvSpPr>
          <p:cNvPr id="11" name="The same app, sized to the screen text"/>
          <p:cNvSpPr txBox="1"/>
          <p:nvPr/>
        </p:nvSpPr>
        <p:spPr>
          <a:xfrm>
            <a:off x="731520" y="58064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Menus turn into a slide-in drawer and bottom tabs on phones. Every page was checked at phone and desktop widths.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</a:t>
            </a:r>
            <a:endParaRPr lang="en-US" sz="3600" dirty="0"/>
          </a:p>
        </p:txBody>
      </p:sp>
      <p:sp>
        <p:nvSpPr>
          <p:cNvPr id="3" name="Stat 1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7895"/>
            </a:avLst>
          </a:prstGeom>
          <a:solidFill>
            <a:srgbClr val="5B3BD6"/>
          </a:solidFill>
          <a:ln w="9525">
            <a:solidFill>
              <a:srgbClr val="5B3BD6"/>
            </a:solidFill>
            <a:prstDash val="solid"/>
          </a:ln>
        </p:spPr>
      </p:sp>
      <p:sp>
        <p:nvSpPr>
          <p:cNvPr id="4" name="Stat 1 number"/>
          <p:cNvSpPr txBox="1"/>
          <p:nvPr/>
        </p:nvSpPr>
        <p:spPr>
          <a:xfrm>
            <a:off x="868680" y="1691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450+</a:t>
            </a:r>
            <a:endParaRPr lang="en-US" sz="5400" dirty="0"/>
          </a:p>
        </p:txBody>
      </p:sp>
      <p:sp>
        <p:nvSpPr>
          <p:cNvPr id="5" name="Stat 1 label"/>
          <p:cNvSpPr txBox="1"/>
          <p:nvPr/>
        </p:nvSpPr>
        <p:spPr>
          <a:xfrm>
            <a:off x="86868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1FF"/>
                </a:solidFill>
              </a:rPr>
              <a:t>backend tests</a:t>
            </a:r>
            <a:endParaRPr lang="en-US" sz="1600" dirty="0"/>
          </a:p>
        </p:txBody>
      </p:sp>
      <p:sp>
        <p:nvSpPr>
          <p:cNvPr id="6" name="Stat 2"/>
          <p:cNvSpPr/>
          <p:nvPr/>
        </p:nvSpPr>
        <p:spPr>
          <a:xfrm>
            <a:off x="4297680" y="1554480"/>
            <a:ext cx="3520440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7" name="Stat 2 number"/>
          <p:cNvSpPr txBox="1"/>
          <p:nvPr/>
        </p:nvSpPr>
        <p:spPr>
          <a:xfrm>
            <a:off x="4617720" y="1691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B3BD6"/>
                </a:solidFill>
              </a:rPr>
              <a:t>200+</a:t>
            </a:r>
            <a:endParaRPr lang="en-US" sz="5400" dirty="0"/>
          </a:p>
        </p:txBody>
      </p:sp>
      <p:sp>
        <p:nvSpPr>
          <p:cNvPr id="8" name="Stat 2 label"/>
          <p:cNvSpPr txBox="1"/>
          <p:nvPr/>
        </p:nvSpPr>
        <p:spPr>
          <a:xfrm>
            <a:off x="461772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780"/>
                </a:solidFill>
              </a:rPr>
              <a:t>frontend unit tests</a:t>
            </a:r>
            <a:endParaRPr lang="en-US" sz="1600" dirty="0"/>
          </a:p>
        </p:txBody>
      </p:sp>
      <p:sp>
        <p:nvSpPr>
          <p:cNvPr id="9" name="Stat 3"/>
          <p:cNvSpPr/>
          <p:nvPr/>
        </p:nvSpPr>
        <p:spPr>
          <a:xfrm>
            <a:off x="8046720" y="1554480"/>
            <a:ext cx="3520440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10" name="Stat 3 number"/>
          <p:cNvSpPr txBox="1"/>
          <p:nvPr/>
        </p:nvSpPr>
        <p:spPr>
          <a:xfrm>
            <a:off x="8366760" y="1691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B3BD6"/>
                </a:solidFill>
              </a:rPr>
              <a:t>20+</a:t>
            </a:r>
            <a:endParaRPr lang="en-US" sz="5400" dirty="0"/>
          </a:p>
        </p:txBody>
      </p:sp>
      <p:sp>
        <p:nvSpPr>
          <p:cNvPr id="11" name="Stat 3 label"/>
          <p:cNvSpPr txBox="1"/>
          <p:nvPr/>
        </p:nvSpPr>
        <p:spPr>
          <a:xfrm>
            <a:off x="836676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780"/>
                </a:solidFill>
              </a:rPr>
              <a:t>browser end-to-end tests</a:t>
            </a:r>
            <a:endParaRPr lang="en-US" sz="1600" dirty="0"/>
          </a:p>
        </p:txBody>
      </p:sp>
      <p:sp>
        <p:nvSpPr>
          <p:cNvPr id="12" name="Passwords and codes are hashed badge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3" name="Passwords and codes are hashed icon" descr="Passwords and codes are ha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3799332"/>
            <a:ext cx="283464" cy="283464"/>
          </a:xfrm>
          <a:prstGeom prst="rect">
            <a:avLst/>
          </a:prstGeom>
        </p:spPr>
      </p:pic>
      <p:sp>
        <p:nvSpPr>
          <p:cNvPr id="14" name="Passwords and codes are hashed heading"/>
          <p:cNvSpPr txBox="1"/>
          <p:nvPr/>
        </p:nvSpPr>
        <p:spPr>
          <a:xfrm>
            <a:off x="1325880" y="36210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Passwords and codes are hashed</a:t>
            </a:r>
            <a:endParaRPr lang="en-US" sz="1700" dirty="0"/>
          </a:p>
        </p:txBody>
      </p:sp>
      <p:sp>
        <p:nvSpPr>
          <p:cNvPr id="15" name="Passwords and codes are hashed text"/>
          <p:cNvSpPr txBox="1"/>
          <p:nvPr/>
        </p:nvSpPr>
        <p:spPr>
          <a:xfrm>
            <a:off x="1325880" y="3950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Argon2 passwords; pickup codes stored only as hashes.</a:t>
            </a:r>
            <a:endParaRPr lang="en-US" sz="1400" dirty="0"/>
          </a:p>
        </p:txBody>
      </p:sp>
      <p:sp>
        <p:nvSpPr>
          <p:cNvPr id="16" name="Rate limits everywhere badge"/>
          <p:cNvSpPr/>
          <p:nvPr/>
        </p:nvSpPr>
        <p:spPr>
          <a:xfrm>
            <a:off x="6172200" y="365760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7" name="Rate limits everywhere icon" descr="Rate limits everywhe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932" y="3799332"/>
            <a:ext cx="283464" cy="283464"/>
          </a:xfrm>
          <a:prstGeom prst="rect">
            <a:avLst/>
          </a:prstGeom>
        </p:spPr>
      </p:pic>
      <p:sp>
        <p:nvSpPr>
          <p:cNvPr id="18" name="Rate limits everywhere heading"/>
          <p:cNvSpPr txBox="1"/>
          <p:nvPr/>
        </p:nvSpPr>
        <p:spPr>
          <a:xfrm>
            <a:off x="6949440" y="36210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Rate limits everywhere</a:t>
            </a:r>
            <a:endParaRPr lang="en-US" sz="1700" dirty="0"/>
          </a:p>
        </p:txBody>
      </p:sp>
      <p:sp>
        <p:nvSpPr>
          <p:cNvPr id="19" name="Rate limits everywhere text"/>
          <p:cNvSpPr txBox="1"/>
          <p:nvPr/>
        </p:nvSpPr>
        <p:spPr>
          <a:xfrm>
            <a:off x="6949440" y="3950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Sign-in, gate checks and code requests are throttled.</a:t>
            </a:r>
            <a:endParaRPr lang="en-US" sz="1400" dirty="0"/>
          </a:p>
        </p:txBody>
      </p:sp>
      <p:sp>
        <p:nvSpPr>
          <p:cNvPr id="20" name="Strict role and school scoping badge"/>
          <p:cNvSpPr/>
          <p:nvPr/>
        </p:nvSpPr>
        <p:spPr>
          <a:xfrm>
            <a:off x="548640" y="489204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1" name="Strict role and school scoping icon" descr="Strict role and school scop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033772"/>
            <a:ext cx="283464" cy="283464"/>
          </a:xfrm>
          <a:prstGeom prst="rect">
            <a:avLst/>
          </a:prstGeom>
        </p:spPr>
      </p:pic>
      <p:sp>
        <p:nvSpPr>
          <p:cNvPr id="22" name="Strict role and school scoping heading"/>
          <p:cNvSpPr txBox="1"/>
          <p:nvPr/>
        </p:nvSpPr>
        <p:spPr>
          <a:xfrm>
            <a:off x="1325880" y="48554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Strict role and school scoping</a:t>
            </a:r>
            <a:endParaRPr lang="en-US" sz="1700" dirty="0"/>
          </a:p>
        </p:txBody>
      </p:sp>
      <p:sp>
        <p:nvSpPr>
          <p:cNvPr id="23" name="Strict role and school scoping text"/>
          <p:cNvSpPr txBox="1"/>
          <p:nvPr/>
        </p:nvSpPr>
        <p:spPr>
          <a:xfrm>
            <a:off x="1325880" y="5184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Each person sees only their own school's data.</a:t>
            </a:r>
            <a:endParaRPr lang="en-US" sz="1400" dirty="0"/>
          </a:p>
        </p:txBody>
      </p:sp>
      <p:sp>
        <p:nvSpPr>
          <p:cNvPr id="24" name="Single-use, expiring codes badge"/>
          <p:cNvSpPr/>
          <p:nvPr/>
        </p:nvSpPr>
        <p:spPr>
          <a:xfrm>
            <a:off x="6172200" y="489204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5" name="Single-use, expiring codes icon" descr="Single-use, expiring co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5033772"/>
            <a:ext cx="283464" cy="283464"/>
          </a:xfrm>
          <a:prstGeom prst="rect">
            <a:avLst/>
          </a:prstGeom>
        </p:spPr>
      </p:pic>
      <p:sp>
        <p:nvSpPr>
          <p:cNvPr id="26" name="Single-use, expiring codes heading"/>
          <p:cNvSpPr txBox="1"/>
          <p:nvPr/>
        </p:nvSpPr>
        <p:spPr>
          <a:xfrm>
            <a:off x="6949440" y="48554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245"/>
                </a:solidFill>
              </a:rPr>
              <a:t>Single-use, expiring codes</a:t>
            </a:r>
            <a:endParaRPr lang="en-US" sz="1700" dirty="0"/>
          </a:p>
        </p:txBody>
      </p:sp>
      <p:sp>
        <p:nvSpPr>
          <p:cNvPr id="27" name="Single-use, expiring codes text"/>
          <p:cNvSpPr txBox="1"/>
          <p:nvPr/>
        </p:nvSpPr>
        <p:spPr>
          <a:xfrm>
            <a:off x="6949440" y="5184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 code works once and expires the same 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schools subscribe, families stay free</a:t>
            </a:r>
            <a:endParaRPr lang="en-US" sz="3600" dirty="0"/>
          </a:p>
        </p:txBody>
      </p:sp>
      <p:sp>
        <p:nvSpPr>
          <p:cNvPr id="3" name="Revenue card 1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6383"/>
            </a:avLst>
          </a:prstGeom>
          <a:solidFill>
            <a:srgbClr val="5B3BD6"/>
          </a:solidFill>
          <a:ln w="9525">
            <a:solidFill>
              <a:srgbClr val="5B3BD6"/>
            </a:solidFill>
            <a:prstDash val="solid"/>
          </a:ln>
        </p:spPr>
      </p:sp>
      <p:sp>
        <p:nvSpPr>
          <p:cNvPr id="4" name="Revenue 1 heading"/>
          <p:cNvSpPr txBox="1"/>
          <p:nvPr/>
        </p:nvSpPr>
        <p:spPr>
          <a:xfrm>
            <a:off x="868680" y="1645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Core: per-pupil subscription</a:t>
            </a:r>
            <a:endParaRPr lang="en-US" sz="1900" dirty="0"/>
          </a:p>
        </p:txBody>
      </p:sp>
      <p:sp>
        <p:nvSpPr>
          <p:cNvPr id="5" name="Revenue 1 text"/>
          <p:cNvSpPr txBox="1"/>
          <p:nvPr/>
        </p:nvSpPr>
        <p:spPr>
          <a:xfrm>
            <a:off x="868680" y="2148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1FF"/>
                </a:solidFill>
              </a:rPr>
              <a:t>Charged per pupil, per term. Includes admin, parent and gate access, alerts, history and support.</a:t>
            </a:r>
            <a:endParaRPr lang="en-US" sz="1500" dirty="0"/>
          </a:p>
        </p:txBody>
      </p:sp>
      <p:sp>
        <p:nvSpPr>
          <p:cNvPr id="6" name="Revenue card 2"/>
          <p:cNvSpPr/>
          <p:nvPr/>
        </p:nvSpPr>
        <p:spPr>
          <a:xfrm>
            <a:off x="4297680" y="1463040"/>
            <a:ext cx="35204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7" name="Revenue 2 heading"/>
          <p:cNvSpPr txBox="1"/>
          <p:nvPr/>
        </p:nvSpPr>
        <p:spPr>
          <a:xfrm>
            <a:off x="4617720" y="1645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45"/>
                </a:solidFill>
              </a:rPr>
              <a:t>Setup and training</a:t>
            </a:r>
            <a:endParaRPr lang="en-US" sz="1900" dirty="0"/>
          </a:p>
        </p:txBody>
      </p:sp>
      <p:sp>
        <p:nvSpPr>
          <p:cNvPr id="8" name="Revenue 2 text"/>
          <p:cNvSpPr txBox="1"/>
          <p:nvPr/>
        </p:nvSpPr>
        <p:spPr>
          <a:xfrm>
            <a:off x="4617720" y="2148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One-off: onboarding the school, importing pupils and parents, training gate staff.</a:t>
            </a:r>
            <a:endParaRPr lang="en-US" sz="1500" dirty="0"/>
          </a:p>
        </p:txBody>
      </p:sp>
      <p:sp>
        <p:nvSpPr>
          <p:cNvPr id="9" name="Revenue card 3"/>
          <p:cNvSpPr/>
          <p:nvPr/>
        </p:nvSpPr>
        <p:spPr>
          <a:xfrm>
            <a:off x="8046720" y="1463040"/>
            <a:ext cx="35204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10" name="Revenue 3 heading"/>
          <p:cNvSpPr txBox="1"/>
          <p:nvPr/>
        </p:nvSpPr>
        <p:spPr>
          <a:xfrm>
            <a:off x="8366760" y="1645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45"/>
                </a:solidFill>
              </a:rPr>
              <a:t>Add-ons, later</a:t>
            </a:r>
            <a:endParaRPr lang="en-US" sz="1900" dirty="0"/>
          </a:p>
        </p:txBody>
      </p:sp>
      <p:sp>
        <p:nvSpPr>
          <p:cNvPr id="11" name="Revenue 3 text"/>
          <p:cNvSpPr txBox="1"/>
          <p:nvPr/>
        </p:nvSpPr>
        <p:spPr>
          <a:xfrm>
            <a:off x="8366760" y="2148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SMS alerts, multi-campus schools, reports and exports.</a:t>
            </a:r>
            <a:endParaRPr lang="en-US" sz="1500" dirty="0"/>
          </a:p>
        </p:txBody>
      </p:sp>
      <p:sp>
        <p:nvSpPr>
          <p:cNvPr id="12" name="Example panel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13" name="Example label"/>
          <p:cNvSpPr txBox="1"/>
          <p:nvPr/>
        </p:nvSpPr>
        <p:spPr>
          <a:xfrm>
            <a:off x="8686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3BD6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14" name="Example 1 number"/>
          <p:cNvSpPr txBox="1"/>
          <p:nvPr/>
        </p:nvSpPr>
        <p:spPr>
          <a:xfrm>
            <a:off x="868680" y="4480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245"/>
                </a:solidFill>
              </a:rPr>
              <a:t>₦600</a:t>
            </a:r>
            <a:endParaRPr lang="en-US" sz="4000" dirty="0"/>
          </a:p>
        </p:txBody>
      </p:sp>
      <p:sp>
        <p:nvSpPr>
          <p:cNvPr id="15" name="Example 1 label"/>
          <p:cNvSpPr txBox="1"/>
          <p:nvPr/>
        </p:nvSpPr>
        <p:spPr>
          <a:xfrm>
            <a:off x="86868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per pupil, per term</a:t>
            </a:r>
            <a:endParaRPr lang="en-US" sz="1500" dirty="0"/>
          </a:p>
        </p:txBody>
      </p:sp>
      <p:sp>
        <p:nvSpPr>
          <p:cNvPr id="16" name="Example 2 number"/>
          <p:cNvSpPr txBox="1"/>
          <p:nvPr/>
        </p:nvSpPr>
        <p:spPr>
          <a:xfrm>
            <a:off x="4480560" y="4480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245"/>
                </a:solidFill>
              </a:rPr>
              <a:t>300</a:t>
            </a:r>
            <a:endParaRPr lang="en-US" sz="4000" dirty="0"/>
          </a:p>
        </p:txBody>
      </p:sp>
      <p:sp>
        <p:nvSpPr>
          <p:cNvPr id="17" name="Example 2 label"/>
          <p:cNvSpPr txBox="1"/>
          <p:nvPr/>
        </p:nvSpPr>
        <p:spPr>
          <a:xfrm>
            <a:off x="448056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pupils in the school</a:t>
            </a:r>
            <a:endParaRPr lang="en-US" sz="1500" dirty="0"/>
          </a:p>
        </p:txBody>
      </p:sp>
      <p:sp>
        <p:nvSpPr>
          <p:cNvPr id="18" name="Example 3 number"/>
          <p:cNvSpPr txBox="1"/>
          <p:nvPr/>
        </p:nvSpPr>
        <p:spPr>
          <a:xfrm>
            <a:off x="8092440" y="4480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245"/>
                </a:solidFill>
              </a:rPr>
              <a:t>₦540,000</a:t>
            </a:r>
            <a:endParaRPr lang="en-US" sz="4000" dirty="0"/>
          </a:p>
        </p:txBody>
      </p:sp>
      <p:sp>
        <p:nvSpPr>
          <p:cNvPr id="19" name="Example 3 label"/>
          <p:cNvSpPr txBox="1"/>
          <p:nvPr/>
        </p:nvSpPr>
        <p:spPr>
          <a:xfrm>
            <a:off x="809244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780"/>
                </a:solidFill>
              </a:rPr>
              <a:t>per school, per year (3 terms)</a:t>
            </a:r>
            <a:endParaRPr lang="en-US" sz="1500" dirty="0"/>
          </a:p>
        </p:txBody>
      </p:sp>
      <p:sp>
        <p:nvSpPr>
          <p:cNvPr id="20" name="Illustrative note"/>
          <p:cNvSpPr txBox="1"/>
          <p:nvPr/>
        </p:nvSpPr>
        <p:spPr>
          <a:xfrm>
            <a:off x="86868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780"/>
                </a:solidFill>
              </a:rPr>
              <a:t>Illustrative figures to be validated in the pilot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to serve, simple way to grow</a:t>
            </a:r>
            <a:endParaRPr lang="en-US" sz="3600" dirty="0"/>
          </a:p>
        </p:txBody>
      </p:sp>
      <p:sp>
        <p:nvSpPr>
          <p:cNvPr id="3" name="Cost label"/>
          <p:cNvSpPr txBox="1"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3BD6"/>
                </a:solidFill>
              </a:rPr>
              <a:t>WHAT IT COSTS TO RUN</a:t>
            </a:r>
            <a:endParaRPr lang="en-US" sz="1200" dirty="0"/>
          </a:p>
        </p:txBody>
      </p:sp>
      <p:sp>
        <p:nvSpPr>
          <p:cNvPr id="4" name="Hosting badge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5" name="Hosting icon" descr="Hos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016252"/>
            <a:ext cx="283464" cy="283464"/>
          </a:xfrm>
          <a:prstGeom prst="rect">
            <a:avLst/>
          </a:prstGeom>
        </p:spPr>
      </p:pic>
      <p:sp>
        <p:nvSpPr>
          <p:cNvPr id="6" name="Hosting heading"/>
          <p:cNvSpPr txBox="1"/>
          <p:nvPr/>
        </p:nvSpPr>
        <p:spPr>
          <a:xfrm>
            <a:off x="1325880" y="18470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Hosting</a:t>
            </a:r>
            <a:endParaRPr lang="en-US" sz="1800" dirty="0"/>
          </a:p>
        </p:txBody>
      </p:sp>
      <p:sp>
        <p:nvSpPr>
          <p:cNvPr id="7" name="Hosting text"/>
          <p:cNvSpPr txBox="1"/>
          <p:nvPr/>
        </p:nvSpPr>
        <p:spPr>
          <a:xfrm>
            <a:off x="1325880" y="21488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API, database and Redis, shared across all schools.</a:t>
            </a:r>
            <a:endParaRPr lang="en-US" sz="1400" dirty="0"/>
          </a:p>
        </p:txBody>
      </p:sp>
      <p:sp>
        <p:nvSpPr>
          <p:cNvPr id="8" name="Email and push badge"/>
          <p:cNvSpPr/>
          <p:nvPr/>
        </p:nvSpPr>
        <p:spPr>
          <a:xfrm>
            <a:off x="548640" y="292608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9" name="Email and push icon" descr="Email and pu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067812"/>
            <a:ext cx="283464" cy="283464"/>
          </a:xfrm>
          <a:prstGeom prst="rect">
            <a:avLst/>
          </a:prstGeom>
        </p:spPr>
      </p:pic>
      <p:sp>
        <p:nvSpPr>
          <p:cNvPr id="10" name="Email and push heading"/>
          <p:cNvSpPr txBox="1"/>
          <p:nvPr/>
        </p:nvSpPr>
        <p:spPr>
          <a:xfrm>
            <a:off x="1325880" y="289864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Email and push</a:t>
            </a:r>
            <a:endParaRPr lang="en-US" sz="1800" dirty="0"/>
          </a:p>
        </p:txBody>
      </p:sp>
      <p:sp>
        <p:nvSpPr>
          <p:cNvPr id="11" name="Email and push text"/>
          <p:cNvSpPr txBox="1"/>
          <p:nvPr/>
        </p:nvSpPr>
        <p:spPr>
          <a:xfrm>
            <a:off x="1325880" y="32004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Set-password links and security alerts.</a:t>
            </a:r>
            <a:endParaRPr lang="en-US" sz="1400" dirty="0"/>
          </a:p>
        </p:txBody>
      </p:sp>
      <p:sp>
        <p:nvSpPr>
          <p:cNvPr id="12" name="Photo storage badge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3" name="Photo storage icon" descr="Photo stor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119372"/>
            <a:ext cx="283464" cy="283464"/>
          </a:xfrm>
          <a:prstGeom prst="rect">
            <a:avLst/>
          </a:prstGeom>
        </p:spPr>
      </p:pic>
      <p:sp>
        <p:nvSpPr>
          <p:cNvPr id="14" name="Photo storage heading"/>
          <p:cNvSpPr txBox="1"/>
          <p:nvPr/>
        </p:nvSpPr>
        <p:spPr>
          <a:xfrm>
            <a:off x="1325880" y="3950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Photo storage</a:t>
            </a:r>
            <a:endParaRPr lang="en-US" sz="1800" dirty="0"/>
          </a:p>
        </p:txBody>
      </p:sp>
      <p:sp>
        <p:nvSpPr>
          <p:cNvPr id="15" name="Photo storage text"/>
          <p:cNvSpPr txBox="1"/>
          <p:nvPr/>
        </p:nvSpPr>
        <p:spPr>
          <a:xfrm>
            <a:off x="1325880" y="425196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Small, cleaned pickup-person and pupil photos.</a:t>
            </a:r>
            <a:endParaRPr lang="en-US" sz="1400" dirty="0"/>
          </a:p>
        </p:txBody>
      </p:sp>
      <p:sp>
        <p:nvSpPr>
          <p:cNvPr id="16" name="Support and onboarding badge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7" name="Support and onboarding icon" descr="Support and onboar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170932"/>
            <a:ext cx="283464" cy="283464"/>
          </a:xfrm>
          <a:prstGeom prst="rect">
            <a:avLst/>
          </a:prstGeom>
        </p:spPr>
      </p:pic>
      <p:sp>
        <p:nvSpPr>
          <p:cNvPr id="18" name="Support and onboarding heading"/>
          <p:cNvSpPr txBox="1"/>
          <p:nvPr/>
        </p:nvSpPr>
        <p:spPr>
          <a:xfrm>
            <a:off x="1325880" y="50017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Support and onboarding</a:t>
            </a:r>
            <a:endParaRPr lang="en-US" sz="1800" dirty="0"/>
          </a:p>
        </p:txBody>
      </p:sp>
      <p:sp>
        <p:nvSpPr>
          <p:cNvPr id="19" name="Support and onboarding text"/>
          <p:cNvSpPr txBox="1"/>
          <p:nvPr/>
        </p:nvSpPr>
        <p:spPr>
          <a:xfrm>
            <a:off x="1325880" y="53035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The main cost, and the reason for the setup fee.</a:t>
            </a:r>
            <a:endParaRPr lang="en-US" sz="1400" dirty="0"/>
          </a:p>
        </p:txBody>
      </p:sp>
      <p:sp>
        <p:nvSpPr>
          <p:cNvPr id="20" name="Growth label"/>
          <p:cNvSpPr txBox="1"/>
          <p:nvPr/>
        </p:nvSpPr>
        <p:spPr>
          <a:xfrm>
            <a:off x="640080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3BD6"/>
                </a:solidFill>
              </a:rPr>
              <a:t>HOW WE GROW</a:t>
            </a:r>
            <a:endParaRPr lang="en-US" sz="1200" dirty="0"/>
          </a:p>
        </p:txBody>
      </p:sp>
      <p:sp>
        <p:nvSpPr>
          <p:cNvPr id="21" name="Growth card 1"/>
          <p:cNvSpPr/>
          <p:nvPr/>
        </p:nvSpPr>
        <p:spPr>
          <a:xfrm>
            <a:off x="6400800" y="1874520"/>
            <a:ext cx="5212080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22" name="Growth step 1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sp>
        <p:nvSpPr>
          <p:cNvPr id="23" name="Growth step 1 number"/>
          <p:cNvSpPr txBox="1"/>
          <p:nvPr/>
        </p:nvSpPr>
        <p:spPr>
          <a:xfrm>
            <a:off x="6629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24" name="Growth 1 heading"/>
          <p:cNvSpPr txBox="1"/>
          <p:nvPr/>
        </p:nvSpPr>
        <p:spPr>
          <a:xfrm>
            <a:off x="74980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45"/>
                </a:solidFill>
              </a:rPr>
              <a:t>Pilot</a:t>
            </a:r>
            <a:endParaRPr lang="en-US" sz="1900" dirty="0"/>
          </a:p>
        </p:txBody>
      </p:sp>
      <p:sp>
        <p:nvSpPr>
          <p:cNvPr id="25" name="Growth 1 text"/>
          <p:cNvSpPr txBox="1"/>
          <p:nvPr/>
        </p:nvSpPr>
        <p:spPr>
          <a:xfrm>
            <a:off x="7498080" y="2377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Run one school for a term at a reduced price, with weekly check-ins.</a:t>
            </a:r>
            <a:endParaRPr lang="en-US" sz="1400" dirty="0"/>
          </a:p>
        </p:txBody>
      </p:sp>
      <p:sp>
        <p:nvSpPr>
          <p:cNvPr id="26" name="Growth card 2"/>
          <p:cNvSpPr/>
          <p:nvPr/>
        </p:nvSpPr>
        <p:spPr>
          <a:xfrm>
            <a:off x="6400800" y="3246120"/>
            <a:ext cx="5212080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27" name="Growth step 2"/>
          <p:cNvSpPr/>
          <p:nvPr/>
        </p:nvSpPr>
        <p:spPr>
          <a:xfrm>
            <a:off x="6629400" y="3520440"/>
            <a:ext cx="640080" cy="64008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sp>
        <p:nvSpPr>
          <p:cNvPr id="28" name="Growth step 2 number"/>
          <p:cNvSpPr txBox="1"/>
          <p:nvPr/>
        </p:nvSpPr>
        <p:spPr>
          <a:xfrm>
            <a:off x="662940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9" name="Growth 2 heading"/>
          <p:cNvSpPr txBox="1"/>
          <p:nvPr/>
        </p:nvSpPr>
        <p:spPr>
          <a:xfrm>
            <a:off x="749808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45"/>
                </a:solidFill>
              </a:rPr>
              <a:t>Prove</a:t>
            </a:r>
            <a:endParaRPr lang="en-US" sz="1900" dirty="0"/>
          </a:p>
        </p:txBody>
      </p:sp>
      <p:sp>
        <p:nvSpPr>
          <p:cNvPr id="30" name="Growth 2 text"/>
          <p:cNvSpPr txBox="1"/>
          <p:nvPr/>
        </p:nvSpPr>
        <p:spPr>
          <a:xfrm>
            <a:off x="7498080" y="3749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Turn results into a case study: pickups logged, incidents caught, parent feedback.</a:t>
            </a:r>
            <a:endParaRPr lang="en-US" sz="1400" dirty="0"/>
          </a:p>
        </p:txBody>
      </p:sp>
      <p:sp>
        <p:nvSpPr>
          <p:cNvPr id="31" name="Growth card 3"/>
          <p:cNvSpPr/>
          <p:nvPr/>
        </p:nvSpPr>
        <p:spPr>
          <a:xfrm>
            <a:off x="6400800" y="4617720"/>
            <a:ext cx="5212080" cy="1188720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32" name="Growth step 3"/>
          <p:cNvSpPr/>
          <p:nvPr/>
        </p:nvSpPr>
        <p:spPr>
          <a:xfrm>
            <a:off x="6629400" y="4892040"/>
            <a:ext cx="640080" cy="640080"/>
          </a:xfrm>
          <a:prstGeom prst="ellipse">
            <a:avLst/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sp>
        <p:nvSpPr>
          <p:cNvPr id="33" name="Growth step 3 number"/>
          <p:cNvSpPr txBox="1"/>
          <p:nvPr/>
        </p:nvSpPr>
        <p:spPr>
          <a:xfrm>
            <a:off x="66294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34" name="Growth 3 heading"/>
          <p:cNvSpPr txBox="1"/>
          <p:nvPr/>
        </p:nvSpPr>
        <p:spPr>
          <a:xfrm>
            <a:off x="749808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245"/>
                </a:solidFill>
              </a:rPr>
              <a:t>Grow</a:t>
            </a:r>
            <a:endParaRPr lang="en-US" sz="1900" dirty="0"/>
          </a:p>
        </p:txBody>
      </p:sp>
      <p:sp>
        <p:nvSpPr>
          <p:cNvPr id="35" name="Growth 3 text"/>
          <p:cNvSpPr txBox="1"/>
          <p:nvPr/>
        </p:nvSpPr>
        <p:spPr>
          <a:xfrm>
            <a:off x="7498080" y="5120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780"/>
                </a:solidFill>
              </a:rPr>
              <a:t>Reach other schools through proprietors' networks and referrals.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and what comes next</a:t>
            </a:r>
            <a:endParaRPr lang="en-US" sz="3600" dirty="0"/>
          </a:p>
        </p:txBody>
      </p:sp>
      <p:sp>
        <p:nvSpPr>
          <p:cNvPr id="3" name="Lane 1 card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4" name="Lane 1 header"/>
          <p:cNvSpPr/>
          <p:nvPr/>
        </p:nvSpPr>
        <p:spPr>
          <a:xfrm>
            <a:off x="548640" y="155448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5B3BD6"/>
          </a:solidFill>
          <a:ln w="12700">
            <a:solidFill>
              <a:srgbClr val="5B3BD6"/>
            </a:solidFill>
            <a:prstDash val="solid"/>
          </a:ln>
        </p:spPr>
      </p:sp>
      <p:sp>
        <p:nvSpPr>
          <p:cNvPr id="5" name="Lane 1 title"/>
          <p:cNvSpPr txBox="1"/>
          <p:nvPr/>
        </p:nvSpPr>
        <p:spPr>
          <a:xfrm>
            <a:off x="54864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Built</a:t>
            </a:r>
            <a:endParaRPr lang="en-US" sz="1800" dirty="0"/>
          </a:p>
        </p:txBody>
      </p:sp>
      <p:sp>
        <p:nvSpPr>
          <p:cNvPr id="6" name="Lane 1 list"/>
          <p:cNvSpPr txBox="1"/>
          <p:nvPr/>
        </p:nvSpPr>
        <p:spPr>
          <a:xfrm>
            <a:off x="822960" y="242316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Admin, parent and gate web portals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Approvals, codes, QR and photos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Alerts by email and push, audit log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Password reset and account management</a:t>
            </a:r>
            <a:endParaRPr lang="en-US" sz="1800" dirty="0"/>
          </a:p>
        </p:txBody>
      </p:sp>
      <p:sp>
        <p:nvSpPr>
          <p:cNvPr id="7" name="Lane 2 card"/>
          <p:cNvSpPr/>
          <p:nvPr/>
        </p:nvSpPr>
        <p:spPr>
          <a:xfrm>
            <a:off x="4297680" y="1554480"/>
            <a:ext cx="3520440" cy="44805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8" name="Lane 2 header"/>
          <p:cNvSpPr/>
          <p:nvPr/>
        </p:nvSpPr>
        <p:spPr>
          <a:xfrm>
            <a:off x="4297680" y="155448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FFC933"/>
          </a:solidFill>
          <a:ln w="12700">
            <a:solidFill>
              <a:srgbClr val="FFC933"/>
            </a:solidFill>
            <a:prstDash val="solid"/>
          </a:ln>
        </p:spPr>
      </p:sp>
      <p:sp>
        <p:nvSpPr>
          <p:cNvPr id="9" name="Lane 2 title"/>
          <p:cNvSpPr txBox="1"/>
          <p:nvPr/>
        </p:nvSpPr>
        <p:spPr>
          <a:xfrm>
            <a:off x="429768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Before going live</a:t>
            </a:r>
            <a:endParaRPr lang="en-US" sz="1800" dirty="0"/>
          </a:p>
        </p:txBody>
      </p:sp>
      <p:sp>
        <p:nvSpPr>
          <p:cNvPr id="10" name="Lane 2 list"/>
          <p:cNvSpPr txBox="1"/>
          <p:nvPr/>
        </p:nvSpPr>
        <p:spPr>
          <a:xfrm>
            <a:off x="4572000" y="242316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Secure school onboarding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Verified email sending domain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HTTPS deployment and backups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Pupil photos shown at the gate</a:t>
            </a:r>
            <a:endParaRPr lang="en-US" sz="1800" dirty="0"/>
          </a:p>
        </p:txBody>
      </p:sp>
      <p:sp>
        <p:nvSpPr>
          <p:cNvPr id="11" name="Lane 3 card"/>
          <p:cNvSpPr/>
          <p:nvPr/>
        </p:nvSpPr>
        <p:spPr>
          <a:xfrm>
            <a:off x="8046720" y="1554480"/>
            <a:ext cx="3520440" cy="44805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9525">
            <a:solidFill>
              <a:srgbClr val="E4DFFB"/>
            </a:solidFill>
            <a:prstDash val="solid"/>
          </a:ln>
        </p:spPr>
      </p:sp>
      <p:sp>
        <p:nvSpPr>
          <p:cNvPr id="12" name="Lane 3 header"/>
          <p:cNvSpPr/>
          <p:nvPr/>
        </p:nvSpPr>
        <p:spPr>
          <a:xfrm>
            <a:off x="8046720" y="155448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E4DFFB"/>
          </a:solidFill>
          <a:ln w="12700">
            <a:solidFill>
              <a:srgbClr val="E4DFFB"/>
            </a:solidFill>
            <a:prstDash val="solid"/>
          </a:ln>
        </p:spPr>
      </p:sp>
      <p:sp>
        <p:nvSpPr>
          <p:cNvPr id="13" name="Lane 3 title"/>
          <p:cNvSpPr txBox="1"/>
          <p:nvPr/>
        </p:nvSpPr>
        <p:spPr>
          <a:xfrm>
            <a:off x="8046720" y="1554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245"/>
                </a:solidFill>
              </a:rPr>
              <a:t>Next</a:t>
            </a:r>
            <a:endParaRPr lang="en-US" sz="1800" dirty="0"/>
          </a:p>
        </p:txBody>
      </p:sp>
      <p:sp>
        <p:nvSpPr>
          <p:cNvPr id="14" name="Lane 3 list"/>
          <p:cNvSpPr txBox="1"/>
          <p:nvPr/>
        </p:nvSpPr>
        <p:spPr>
          <a:xfrm>
            <a:off x="8321040" y="242316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Flutter mobile app for parents and gate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School time zone for code expiry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B1245"/>
                </a:solidFill>
              </a:rPr>
              <a:t>Pilot with a real school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hip"/>
          <p:cNvSpPr/>
          <p:nvPr/>
        </p:nvSpPr>
        <p:spPr>
          <a:xfrm>
            <a:off x="502920" y="411480"/>
            <a:ext cx="2286000" cy="86868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Pikva logo" descr="Pikv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975104" cy="595000"/>
          </a:xfrm>
          <a:prstGeom prst="rect">
            <a:avLst/>
          </a:prstGeom>
        </p:spPr>
      </p:pic>
      <p:sp>
        <p:nvSpPr>
          <p:cNvPr id="4" name="Closing title"/>
          <p:cNvSpPr txBox="1"/>
          <p:nvPr/>
        </p:nvSpPr>
        <p:spPr>
          <a:xfrm>
            <a:off x="640080" y="21945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Closing subtitle"/>
          <p:cNvSpPr txBox="1"/>
          <p:nvPr/>
        </p:nvSpPr>
        <p:spPr>
          <a:xfrm>
            <a:off x="640080" y="3383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C933"/>
                </a:solidFill>
              </a:rPr>
              <a:t>Questions and live demo</a:t>
            </a:r>
            <a:endParaRPr lang="en-US" sz="2600" dirty="0"/>
          </a:p>
        </p:txBody>
      </p:sp>
      <p:sp>
        <p:nvSpPr>
          <p:cNvPr id="6" name="Closing tagline"/>
          <p:cNvSpPr txBox="1"/>
          <p:nvPr/>
        </p:nvSpPr>
        <p:spPr>
          <a:xfrm>
            <a:off x="640080" y="4114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8FF"/>
                </a:solidFill>
              </a:rPr>
              <a:t>Authorise  ·  Approve  ·  Verify  ·  Record</a:t>
            </a:r>
            <a:endParaRPr lang="en-US" sz="1800" dirty="0"/>
          </a:p>
        </p:txBody>
      </p:sp>
      <p:sp>
        <p:nvSpPr>
          <p:cNvPr id="7" name="Gate on a phone bezel"/>
          <p:cNvSpPr/>
          <p:nvPr/>
        </p:nvSpPr>
        <p:spPr>
          <a:xfrm>
            <a:off x="7434072" y="621792"/>
            <a:ext cx="2093976" cy="4382555"/>
          </a:xfrm>
          <a:prstGeom prst="roundRect">
            <a:avLst>
              <a:gd name="adj" fmla="val 12227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8" name="Gate on a phone screenshot" descr="Gate on a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685800"/>
            <a:ext cx="1965960" cy="4254539"/>
          </a:xfrm>
          <a:prstGeom prst="rect">
            <a:avLst/>
          </a:prstGeom>
        </p:spPr>
      </p:pic>
      <p:sp>
        <p:nvSpPr>
          <p:cNvPr id="9" name="Parent code on a phone bezel"/>
          <p:cNvSpPr/>
          <p:nvPr/>
        </p:nvSpPr>
        <p:spPr>
          <a:xfrm>
            <a:off x="9765792" y="1216152"/>
            <a:ext cx="2093976" cy="4382555"/>
          </a:xfrm>
          <a:prstGeom prst="roundRect">
            <a:avLst>
              <a:gd name="adj" fmla="val 12227"/>
            </a:avLst>
          </a:prstGeom>
          <a:solidFill>
            <a:srgbClr val="1B1245"/>
          </a:solidFill>
          <a:ln w="12700">
            <a:solidFill>
              <a:srgbClr val="3A3470"/>
            </a:solidFill>
            <a:prstDash val="solid"/>
          </a:ln>
          <a:effectLst>
            <a:outerShdw sx="100000" sy="100000" kx="0" ky="0" algn="bl" rotWithShape="0" blurRad="228600" dist="76200" dir="5400000">
              <a:srgbClr val="1B1245">
                <a:alpha val="28000"/>
              </a:srgbClr>
            </a:outerShdw>
          </a:effectLst>
        </p:spPr>
      </p:sp>
      <p:pic>
        <p:nvPicPr>
          <p:cNvPr id="10" name="Parent code on a phone screenshot" descr="Parent code on a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280160"/>
            <a:ext cx="1965960" cy="42545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0F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kva">
  <a:themeElements>
    <a:clrScheme name="Pikva">
      <a:dk1>
        <a:srgbClr val="1B1245"/>
      </a:dk1>
      <a:lt1>
        <a:srgbClr val="FFFFFF"/>
      </a:lt1>
      <a:dk2>
        <a:srgbClr val="2B1B7E"/>
      </a:dk2>
      <a:lt2>
        <a:srgbClr val="F5F3FF"/>
      </a:lt2>
      <a:accent1>
        <a:srgbClr val="5B3BD6"/>
      </a:accent1>
      <a:accent2>
        <a:srgbClr val="FFC933"/>
      </a:accent2>
      <a:accent3>
        <a:srgbClr val="16A34A"/>
      </a:accent3>
      <a:accent4>
        <a:srgbClr val="E5484D"/>
      </a:accent4>
      <a:accent5>
        <a:srgbClr val="22B8D4"/>
      </a:accent5>
      <a:accent6>
        <a:srgbClr val="8B7BE8"/>
      </a:accent6>
      <a:hlink>
        <a:srgbClr val="5B3BD6"/>
      </a:hlink>
      <a:folHlink>
        <a:srgbClr val="8B7BE8"/>
      </a:folHlink>
    </a:clrScheme>
    <a:fontScheme name="Pikv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Pikva - School Pickup Management</dc:title>
  <dc:subject>PptxGenJS Presentation</dc:subject>
  <dc:creator>Pikva</dc:creator>
  <cp:lastModifiedBy>Pikva</cp:lastModifiedBy>
  <cp:revision>1</cp:revision>
  <dcterms:created xsi:type="dcterms:W3CDTF">2026-10-22T13:26:49Z</dcterms:created>
  <dcterms:modified xsi:type="dcterms:W3CDTF">2026-10-22T13:26:49Z</dcterms:modified>
</cp:coreProperties>
</file>